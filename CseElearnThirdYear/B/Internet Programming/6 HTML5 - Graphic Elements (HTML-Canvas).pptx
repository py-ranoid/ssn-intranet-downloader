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6" r:id="rId3"/>
    <p:sldId id="257" r:id="rId4"/>
    <p:sldId id="267" r:id="rId5"/>
    <p:sldId id="268" r:id="rId6"/>
    <p:sldId id="258" r:id="rId7"/>
    <p:sldId id="259" r:id="rId8"/>
    <p:sldId id="260" r:id="rId9"/>
    <p:sldId id="261" r:id="rId10"/>
    <p:sldId id="264" r:id="rId11"/>
    <p:sldId id="265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6" d="100"/>
          <a:sy n="86" d="100"/>
        </p:scale>
        <p:origin x="-149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70B4F-9FAD-48EF-B97C-2648562D0978}" type="datetimeFigureOut">
              <a:rPr lang="en-US" smtClean="0"/>
              <a:pPr/>
              <a:t>7/20/2016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A76AB-C420-4E35-A299-644EF4CB543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70B4F-9FAD-48EF-B97C-2648562D0978}" type="datetimeFigureOut">
              <a:rPr lang="en-US" smtClean="0"/>
              <a:pPr/>
              <a:t>7/20/2016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A76AB-C420-4E35-A299-644EF4CB543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70B4F-9FAD-48EF-B97C-2648562D0978}" type="datetimeFigureOut">
              <a:rPr lang="en-US" smtClean="0"/>
              <a:pPr/>
              <a:t>7/20/2016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A76AB-C420-4E35-A299-644EF4CB543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70B4F-9FAD-48EF-B97C-2648562D0978}" type="datetimeFigureOut">
              <a:rPr lang="en-US" smtClean="0"/>
              <a:pPr/>
              <a:t>7/20/2016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A76AB-C420-4E35-A299-644EF4CB543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70B4F-9FAD-48EF-B97C-2648562D0978}" type="datetimeFigureOut">
              <a:rPr lang="en-US" smtClean="0"/>
              <a:pPr/>
              <a:t>7/20/2016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A76AB-C420-4E35-A299-644EF4CB543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70B4F-9FAD-48EF-B97C-2648562D0978}" type="datetimeFigureOut">
              <a:rPr lang="en-US" smtClean="0"/>
              <a:pPr/>
              <a:t>7/20/2016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A76AB-C420-4E35-A299-644EF4CB543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70B4F-9FAD-48EF-B97C-2648562D0978}" type="datetimeFigureOut">
              <a:rPr lang="en-US" smtClean="0"/>
              <a:pPr/>
              <a:t>7/20/2016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A76AB-C420-4E35-A299-644EF4CB543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70B4F-9FAD-48EF-B97C-2648562D0978}" type="datetimeFigureOut">
              <a:rPr lang="en-US" smtClean="0"/>
              <a:pPr/>
              <a:t>7/20/2016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A76AB-C420-4E35-A299-644EF4CB543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70B4F-9FAD-48EF-B97C-2648562D0978}" type="datetimeFigureOut">
              <a:rPr lang="en-US" smtClean="0"/>
              <a:pPr/>
              <a:t>7/20/2016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A76AB-C420-4E35-A299-644EF4CB543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70B4F-9FAD-48EF-B97C-2648562D0978}" type="datetimeFigureOut">
              <a:rPr lang="en-US" smtClean="0"/>
              <a:pPr/>
              <a:t>7/20/2016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A76AB-C420-4E35-A299-644EF4CB543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570B4F-9FAD-48EF-B97C-2648562D0978}" type="datetimeFigureOut">
              <a:rPr lang="en-US" smtClean="0"/>
              <a:pPr/>
              <a:t>7/20/2016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A76AB-C420-4E35-A299-644EF4CB543F}" type="slidenum">
              <a:rPr lang="en-IN" smtClean="0"/>
              <a:pPr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570B4F-9FAD-48EF-B97C-2648562D0978}" type="datetimeFigureOut">
              <a:rPr lang="en-US" smtClean="0"/>
              <a:pPr/>
              <a:t>7/20/2016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1A76AB-C420-4E35-A299-644EF4CB543F}" type="slidenum">
              <a:rPr lang="en-IN" smtClean="0"/>
              <a:pPr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 smtClean="0"/>
              <a:t>Canvas Element</a:t>
            </a:r>
            <a:endParaRPr lang="en-IN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smtClean="0"/>
              <a:t>New Elements in HTML5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smtClean="0"/>
              <a:t>The most interesting new elements are: </a:t>
            </a:r>
          </a:p>
          <a:p>
            <a:r>
              <a:rPr lang="en-IN" dirty="0" smtClean="0"/>
              <a:t>New </a:t>
            </a:r>
            <a:r>
              <a:rPr lang="en-IN" b="1" dirty="0" smtClean="0"/>
              <a:t>semantic</a:t>
            </a:r>
            <a:r>
              <a:rPr lang="en-IN" dirty="0" smtClean="0"/>
              <a:t> elements like &lt;header&gt;, &lt;footer&gt;, &lt;article&gt;, and &lt;section&gt;.</a:t>
            </a:r>
          </a:p>
          <a:p>
            <a:r>
              <a:rPr lang="en-IN" dirty="0" smtClean="0"/>
              <a:t>New form </a:t>
            </a:r>
            <a:r>
              <a:rPr lang="en-IN" b="1" dirty="0" smtClean="0"/>
              <a:t>control attributes</a:t>
            </a:r>
            <a:r>
              <a:rPr lang="en-IN" dirty="0" smtClean="0"/>
              <a:t> like number, date, time, calendar, and range.</a:t>
            </a:r>
          </a:p>
          <a:p>
            <a:r>
              <a:rPr lang="en-IN" dirty="0" smtClean="0"/>
              <a:t>New </a:t>
            </a:r>
            <a:r>
              <a:rPr lang="en-IN" b="1" dirty="0" smtClean="0"/>
              <a:t>graphic</a:t>
            </a:r>
            <a:r>
              <a:rPr lang="en-IN" dirty="0" smtClean="0"/>
              <a:t> elements: &lt;</a:t>
            </a:r>
            <a:r>
              <a:rPr lang="en-IN" dirty="0" err="1" smtClean="0"/>
              <a:t>svg</a:t>
            </a:r>
            <a:r>
              <a:rPr lang="en-IN" dirty="0" smtClean="0"/>
              <a:t>&gt; and &lt;canvas&gt;.</a:t>
            </a:r>
          </a:p>
          <a:p>
            <a:r>
              <a:rPr lang="en-IN" dirty="0" smtClean="0"/>
              <a:t>New </a:t>
            </a:r>
            <a:r>
              <a:rPr lang="en-IN" b="1" dirty="0" smtClean="0"/>
              <a:t>multimedia</a:t>
            </a:r>
            <a:r>
              <a:rPr lang="en-IN" dirty="0" smtClean="0"/>
              <a:t> elements: &lt;audio&gt; and &lt;video&gt;.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 err="1" smtClean="0"/>
              <a:t>HTMl</a:t>
            </a:r>
            <a:r>
              <a:rPr lang="en-IN" dirty="0" smtClean="0"/>
              <a:t> – Canvas Element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sz="3800" dirty="0"/>
              <a:t>The HTML5 &lt;canvas&gt; tag is used to draw graphics, on the fly, via scripting (usually JavaScript).</a:t>
            </a:r>
          </a:p>
          <a:p>
            <a:r>
              <a:rPr lang="en-IN" sz="3800" dirty="0"/>
              <a:t>However, the &lt;canvas&gt; element has no drawing abilities of its own (it is only a container for graphics) - you must use a script to actually draw the graphics.</a:t>
            </a:r>
          </a:p>
          <a:p>
            <a:r>
              <a:rPr lang="en-IN" sz="3800" dirty="0"/>
              <a:t>The </a:t>
            </a:r>
            <a:r>
              <a:rPr lang="en-IN" sz="3800" dirty="0" err="1"/>
              <a:t>getContext</a:t>
            </a:r>
            <a:r>
              <a:rPr lang="en-IN" sz="3800" dirty="0"/>
              <a:t>() method returns an object that provides methods and properties for drawing on the canvas.</a:t>
            </a:r>
          </a:p>
          <a:p>
            <a:r>
              <a:rPr lang="en-IN" sz="3800" dirty="0"/>
              <a:t>This reference will cover the properties and methods of the </a:t>
            </a:r>
            <a:r>
              <a:rPr lang="en-IN" sz="3800" dirty="0" err="1"/>
              <a:t>getContext</a:t>
            </a:r>
            <a:r>
              <a:rPr lang="en-IN" sz="3800" dirty="0"/>
              <a:t>("2d") object, which can be used to draw text, lines, boxes, circles, and more - on the canvas</a:t>
            </a:r>
            <a:r>
              <a:rPr lang="en-IN" sz="3800" dirty="0" smtClean="0"/>
              <a:t>.</a:t>
            </a: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82594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Drawing Text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844" y="714356"/>
            <a:ext cx="4071966" cy="5715040"/>
          </a:xfrm>
        </p:spPr>
        <p:txBody>
          <a:bodyPr>
            <a:normAutofit fontScale="62500" lnSpcReduction="20000"/>
          </a:bodyPr>
          <a:lstStyle/>
          <a:p>
            <a:pPr>
              <a:buNone/>
            </a:pPr>
            <a:r>
              <a:rPr lang="en-IN" dirty="0" smtClean="0"/>
              <a:t>&lt;!DOCTYPE html&gt;</a:t>
            </a:r>
          </a:p>
          <a:p>
            <a:pPr>
              <a:buNone/>
            </a:pPr>
            <a:r>
              <a:rPr lang="en-IN" dirty="0" smtClean="0"/>
              <a:t>&lt;html&gt;</a:t>
            </a:r>
          </a:p>
          <a:p>
            <a:pPr>
              <a:buNone/>
            </a:pPr>
            <a:r>
              <a:rPr lang="en-IN" dirty="0" smtClean="0"/>
              <a:t>&lt;body</a:t>
            </a:r>
            <a:r>
              <a:rPr lang="en-IN" dirty="0" smtClean="0"/>
              <a:t>&gt;</a:t>
            </a:r>
            <a:endParaRPr lang="en-IN" dirty="0" smtClean="0"/>
          </a:p>
          <a:p>
            <a:pPr>
              <a:buNone/>
            </a:pPr>
            <a:r>
              <a:rPr lang="en-IN" dirty="0" smtClean="0"/>
              <a:t>&lt;canvas id="</a:t>
            </a:r>
            <a:r>
              <a:rPr lang="en-IN" dirty="0" err="1" smtClean="0"/>
              <a:t>myCanvas</a:t>
            </a:r>
            <a:r>
              <a:rPr lang="en-IN" dirty="0" smtClean="0"/>
              <a:t>" width="200" height="100" style="border:1px solid #d3d3d3;"&gt;</a:t>
            </a:r>
          </a:p>
          <a:p>
            <a:pPr>
              <a:buNone/>
            </a:pPr>
            <a:r>
              <a:rPr lang="en-IN" dirty="0" smtClean="0"/>
              <a:t>Your browser does not support the HTML5 canvas tag.&lt;/canvas&gt;</a:t>
            </a:r>
          </a:p>
          <a:p>
            <a:pPr>
              <a:buNone/>
            </a:pPr>
            <a:r>
              <a:rPr lang="en-IN" dirty="0" smtClean="0"/>
              <a:t>&lt;</a:t>
            </a:r>
            <a:r>
              <a:rPr lang="en-IN" dirty="0" smtClean="0"/>
              <a:t>script&gt;</a:t>
            </a:r>
          </a:p>
          <a:p>
            <a:pPr>
              <a:buNone/>
            </a:pPr>
            <a:r>
              <a:rPr lang="en-IN" dirty="0" err="1" smtClean="0"/>
              <a:t>var</a:t>
            </a:r>
            <a:r>
              <a:rPr lang="en-IN" dirty="0" smtClean="0"/>
              <a:t> c = </a:t>
            </a:r>
            <a:r>
              <a:rPr lang="en-IN" dirty="0" err="1" smtClean="0"/>
              <a:t>document.getElementById</a:t>
            </a:r>
            <a:r>
              <a:rPr lang="en-IN" dirty="0" smtClean="0"/>
              <a:t>("</a:t>
            </a:r>
            <a:r>
              <a:rPr lang="en-IN" dirty="0" err="1" smtClean="0"/>
              <a:t>myCanvas</a:t>
            </a:r>
            <a:r>
              <a:rPr lang="en-IN" dirty="0" smtClean="0"/>
              <a:t>");</a:t>
            </a:r>
          </a:p>
          <a:p>
            <a:pPr>
              <a:buNone/>
            </a:pPr>
            <a:r>
              <a:rPr lang="en-IN" dirty="0" err="1" smtClean="0"/>
              <a:t>var</a:t>
            </a:r>
            <a:r>
              <a:rPr lang="en-IN" dirty="0" smtClean="0"/>
              <a:t> </a:t>
            </a:r>
            <a:r>
              <a:rPr lang="en-IN" dirty="0" err="1" smtClean="0"/>
              <a:t>ctx</a:t>
            </a:r>
            <a:r>
              <a:rPr lang="en-IN" dirty="0" smtClean="0"/>
              <a:t> = </a:t>
            </a:r>
            <a:r>
              <a:rPr lang="en-IN" dirty="0" err="1" smtClean="0"/>
              <a:t>c.getContext</a:t>
            </a:r>
            <a:r>
              <a:rPr lang="en-IN" dirty="0" smtClean="0"/>
              <a:t>("2d");</a:t>
            </a:r>
          </a:p>
          <a:p>
            <a:pPr>
              <a:buNone/>
            </a:pPr>
            <a:r>
              <a:rPr lang="en-IN" dirty="0" err="1" smtClean="0"/>
              <a:t>ctx.font</a:t>
            </a:r>
            <a:r>
              <a:rPr lang="en-IN" dirty="0" smtClean="0"/>
              <a:t> = "30px Arial";</a:t>
            </a:r>
          </a:p>
          <a:p>
            <a:pPr>
              <a:buNone/>
            </a:pPr>
            <a:r>
              <a:rPr lang="en-IN" dirty="0" err="1" smtClean="0"/>
              <a:t>ctx.fillText</a:t>
            </a:r>
            <a:r>
              <a:rPr lang="en-IN" dirty="0" smtClean="0"/>
              <a:t>("Hello World",10,50</a:t>
            </a:r>
            <a:r>
              <a:rPr lang="en-IN" dirty="0" smtClean="0"/>
              <a:t>);</a:t>
            </a:r>
          </a:p>
          <a:p>
            <a:pPr>
              <a:buNone/>
            </a:pPr>
            <a:r>
              <a:rPr lang="en-IN" dirty="0" err="1" smtClean="0"/>
              <a:t>ctx.strokeText</a:t>
            </a:r>
            <a:r>
              <a:rPr lang="en-IN" dirty="0" smtClean="0"/>
              <a:t>("Hello World",10,80);</a:t>
            </a:r>
          </a:p>
          <a:p>
            <a:pPr>
              <a:buNone/>
            </a:pPr>
            <a:r>
              <a:rPr lang="en-IN" dirty="0" smtClean="0"/>
              <a:t>&lt;/script</a:t>
            </a:r>
            <a:r>
              <a:rPr lang="en-IN" dirty="0" smtClean="0"/>
              <a:t>&gt;</a:t>
            </a:r>
            <a:endParaRPr lang="en-IN" dirty="0" smtClean="0"/>
          </a:p>
          <a:p>
            <a:pPr>
              <a:buNone/>
            </a:pPr>
            <a:r>
              <a:rPr lang="en-IN" dirty="0" smtClean="0"/>
              <a:t>&lt;/body&gt;</a:t>
            </a:r>
          </a:p>
          <a:p>
            <a:pPr>
              <a:buNone/>
            </a:pPr>
            <a:r>
              <a:rPr lang="en-IN" dirty="0" smtClean="0"/>
              <a:t>&lt;/html&gt;</a:t>
            </a:r>
          </a:p>
          <a:p>
            <a:pPr>
              <a:buNone/>
            </a:pPr>
            <a:endParaRPr lang="en-IN" dirty="0"/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929190" y="4286256"/>
            <a:ext cx="2624142" cy="12811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Rectangle 5"/>
          <p:cNvSpPr/>
          <p:nvPr/>
        </p:nvSpPr>
        <p:spPr>
          <a:xfrm>
            <a:off x="4429124" y="1785926"/>
            <a:ext cx="4572000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b="1" dirty="0" smtClean="0">
                <a:solidFill>
                  <a:srgbClr val="7030A0"/>
                </a:solidFill>
              </a:rPr>
              <a:t>A canvas is a rectangular area on an HTML page. By default, a canvas has no border and no content</a:t>
            </a:r>
            <a:r>
              <a:rPr lang="en-IN" b="1" dirty="0" smtClean="0">
                <a:solidFill>
                  <a:srgbClr val="7030A0"/>
                </a:solidFill>
              </a:rPr>
              <a:t>.</a:t>
            </a:r>
          </a:p>
          <a:p>
            <a:endParaRPr lang="en-IN" dirty="0" smtClean="0"/>
          </a:p>
          <a:p>
            <a:r>
              <a:rPr lang="en-IN" dirty="0" smtClean="0"/>
              <a:t>&lt;</a:t>
            </a:r>
            <a:r>
              <a:rPr lang="en-IN" dirty="0" smtClean="0"/>
              <a:t>canvas id="</a:t>
            </a:r>
            <a:r>
              <a:rPr lang="en-IN" dirty="0" err="1" smtClean="0"/>
              <a:t>myCanvas</a:t>
            </a:r>
            <a:r>
              <a:rPr lang="en-IN" dirty="0" smtClean="0"/>
              <a:t>" width="200" height="100"&gt;&lt;/canvas&gt;</a:t>
            </a:r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82594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Drawing a Line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000108"/>
            <a:ext cx="5114932" cy="5500726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IN" dirty="0" smtClean="0"/>
              <a:t>&lt;!DOCTYPE html&gt;</a:t>
            </a:r>
          </a:p>
          <a:p>
            <a:pPr>
              <a:buNone/>
            </a:pPr>
            <a:r>
              <a:rPr lang="en-IN" dirty="0" smtClean="0"/>
              <a:t>&lt;html&gt;</a:t>
            </a:r>
          </a:p>
          <a:p>
            <a:pPr>
              <a:buNone/>
            </a:pPr>
            <a:r>
              <a:rPr lang="en-IN" dirty="0" smtClean="0"/>
              <a:t>&lt;body&gt;</a:t>
            </a:r>
          </a:p>
          <a:p>
            <a:pPr>
              <a:buNone/>
            </a:pPr>
            <a:endParaRPr lang="en-IN" dirty="0" smtClean="0"/>
          </a:p>
          <a:p>
            <a:pPr>
              <a:buNone/>
            </a:pPr>
            <a:r>
              <a:rPr lang="en-IN" dirty="0" smtClean="0"/>
              <a:t>&lt;canvas id="</a:t>
            </a:r>
            <a:r>
              <a:rPr lang="en-IN" dirty="0" err="1" smtClean="0"/>
              <a:t>myCanvas</a:t>
            </a:r>
            <a:r>
              <a:rPr lang="en-IN" dirty="0" smtClean="0"/>
              <a:t>" width="200" height="100" style="border:1px solid #d3d3d3;"&gt;</a:t>
            </a:r>
          </a:p>
          <a:p>
            <a:pPr>
              <a:buNone/>
            </a:pPr>
            <a:r>
              <a:rPr lang="en-IN" dirty="0" smtClean="0"/>
              <a:t>Your browser does not support the HTML5 canvas tag.&lt;/canvas&gt;</a:t>
            </a:r>
          </a:p>
          <a:p>
            <a:pPr>
              <a:buNone/>
            </a:pPr>
            <a:endParaRPr lang="en-IN" dirty="0" smtClean="0"/>
          </a:p>
          <a:p>
            <a:pPr>
              <a:buNone/>
            </a:pPr>
            <a:r>
              <a:rPr lang="en-IN" dirty="0" smtClean="0"/>
              <a:t>&lt;script&gt;</a:t>
            </a:r>
          </a:p>
          <a:p>
            <a:pPr>
              <a:buNone/>
            </a:pPr>
            <a:r>
              <a:rPr lang="en-IN" dirty="0" err="1" smtClean="0"/>
              <a:t>var</a:t>
            </a:r>
            <a:r>
              <a:rPr lang="en-IN" dirty="0" smtClean="0"/>
              <a:t> c = </a:t>
            </a:r>
            <a:r>
              <a:rPr lang="en-IN" dirty="0" err="1" smtClean="0"/>
              <a:t>document.getElementById</a:t>
            </a:r>
            <a:r>
              <a:rPr lang="en-IN" dirty="0" smtClean="0"/>
              <a:t>("</a:t>
            </a:r>
            <a:r>
              <a:rPr lang="en-IN" dirty="0" err="1" smtClean="0"/>
              <a:t>myCanvas</a:t>
            </a:r>
            <a:r>
              <a:rPr lang="en-IN" dirty="0" smtClean="0"/>
              <a:t>");</a:t>
            </a:r>
          </a:p>
          <a:p>
            <a:pPr>
              <a:buNone/>
            </a:pPr>
            <a:r>
              <a:rPr lang="en-IN" dirty="0" err="1" smtClean="0"/>
              <a:t>var</a:t>
            </a:r>
            <a:r>
              <a:rPr lang="en-IN" dirty="0" smtClean="0"/>
              <a:t> </a:t>
            </a:r>
            <a:r>
              <a:rPr lang="en-IN" dirty="0" err="1" smtClean="0"/>
              <a:t>ctx</a:t>
            </a:r>
            <a:r>
              <a:rPr lang="en-IN" dirty="0" smtClean="0"/>
              <a:t> = </a:t>
            </a:r>
            <a:r>
              <a:rPr lang="en-IN" dirty="0" err="1" smtClean="0"/>
              <a:t>c.getContext</a:t>
            </a:r>
            <a:r>
              <a:rPr lang="en-IN" dirty="0" smtClean="0"/>
              <a:t>("2d");</a:t>
            </a:r>
          </a:p>
          <a:p>
            <a:pPr>
              <a:buNone/>
            </a:pPr>
            <a:r>
              <a:rPr lang="en-IN" dirty="0" err="1" smtClean="0"/>
              <a:t>ctx.moveTo</a:t>
            </a:r>
            <a:r>
              <a:rPr lang="en-IN" dirty="0" smtClean="0"/>
              <a:t>(20,40);</a:t>
            </a:r>
          </a:p>
          <a:p>
            <a:pPr>
              <a:buNone/>
            </a:pPr>
            <a:r>
              <a:rPr lang="en-IN" dirty="0" err="1" smtClean="0"/>
              <a:t>ctx.lineTo</a:t>
            </a:r>
            <a:r>
              <a:rPr lang="en-IN" dirty="0" smtClean="0"/>
              <a:t>(120,80);</a:t>
            </a:r>
          </a:p>
          <a:p>
            <a:pPr>
              <a:buNone/>
            </a:pPr>
            <a:r>
              <a:rPr lang="en-IN" dirty="0" err="1" smtClean="0"/>
              <a:t>ctx.stroke</a:t>
            </a:r>
            <a:r>
              <a:rPr lang="en-IN" dirty="0" smtClean="0"/>
              <a:t>();</a:t>
            </a:r>
          </a:p>
          <a:p>
            <a:pPr>
              <a:buNone/>
            </a:pPr>
            <a:r>
              <a:rPr lang="en-IN" dirty="0" smtClean="0"/>
              <a:t>&lt;/script&gt;</a:t>
            </a:r>
          </a:p>
          <a:p>
            <a:pPr>
              <a:buNone/>
            </a:pPr>
            <a:endParaRPr lang="en-IN" dirty="0" smtClean="0"/>
          </a:p>
          <a:p>
            <a:pPr>
              <a:buNone/>
            </a:pPr>
            <a:r>
              <a:rPr lang="en-IN" dirty="0" smtClean="0"/>
              <a:t>&lt;/body&gt;</a:t>
            </a:r>
          </a:p>
          <a:p>
            <a:pPr>
              <a:buNone/>
            </a:pPr>
            <a:r>
              <a:rPr lang="en-IN" dirty="0" smtClean="0"/>
              <a:t>&lt;/html&gt;</a:t>
            </a:r>
          </a:p>
          <a:p>
            <a:pPr>
              <a:buNone/>
            </a:pPr>
            <a:endParaRPr lang="en-IN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500694" y="2571744"/>
            <a:ext cx="2700342" cy="15716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82594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/>
            </a:r>
            <a:br>
              <a:rPr lang="en-IN" dirty="0" smtClean="0"/>
            </a:br>
            <a:r>
              <a:rPr lang="en-IN" dirty="0" smtClean="0"/>
              <a:t>HTML </a:t>
            </a:r>
            <a:r>
              <a:rPr lang="en-IN" dirty="0"/>
              <a:t>canvas </a:t>
            </a:r>
            <a:r>
              <a:rPr lang="en-IN" dirty="0" err="1" smtClean="0"/>
              <a:t>fillStyle</a:t>
            </a:r>
            <a:r>
              <a:rPr lang="en-IN" dirty="0"/>
              <a:t> Property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4423"/>
            <a:ext cx="8401080" cy="2000264"/>
          </a:xfrm>
        </p:spPr>
        <p:txBody>
          <a:bodyPr>
            <a:normAutofit fontScale="77500" lnSpcReduction="20000"/>
          </a:bodyPr>
          <a:lstStyle/>
          <a:p>
            <a:pPr>
              <a:buNone/>
            </a:pPr>
            <a:r>
              <a:rPr lang="en-IN" sz="3300" dirty="0"/>
              <a:t>Define a red fill-</a:t>
            </a:r>
            <a:r>
              <a:rPr lang="en-IN" sz="3300" dirty="0" err="1"/>
              <a:t>color</a:t>
            </a:r>
            <a:r>
              <a:rPr lang="en-IN" sz="3300" dirty="0"/>
              <a:t> for the rectangle:</a:t>
            </a:r>
            <a:endParaRPr lang="en-IN" sz="3300" dirty="0" smtClean="0"/>
          </a:p>
          <a:p>
            <a:pPr>
              <a:buNone/>
            </a:pPr>
            <a:r>
              <a:rPr lang="en-IN" sz="2800" dirty="0" smtClean="0"/>
              <a:t>Example</a:t>
            </a:r>
          </a:p>
          <a:p>
            <a:pPr>
              <a:buNone/>
            </a:pPr>
            <a:r>
              <a:rPr lang="en-IN" sz="2800" dirty="0" smtClean="0"/>
              <a:t>	</a:t>
            </a:r>
            <a:r>
              <a:rPr lang="en-IN" sz="2800" dirty="0" err="1" smtClean="0"/>
              <a:t>var</a:t>
            </a:r>
            <a:r>
              <a:rPr lang="en-IN" sz="2800" dirty="0" smtClean="0"/>
              <a:t> </a:t>
            </a:r>
            <a:r>
              <a:rPr lang="en-IN" sz="2800" dirty="0"/>
              <a:t>c=</a:t>
            </a:r>
            <a:r>
              <a:rPr lang="en-IN" sz="2800" dirty="0" err="1"/>
              <a:t>document.getElementById</a:t>
            </a:r>
            <a:r>
              <a:rPr lang="en-IN" sz="2800" dirty="0"/>
              <a:t>("</a:t>
            </a:r>
            <a:r>
              <a:rPr lang="en-IN" sz="2800" dirty="0" err="1"/>
              <a:t>myCanvas</a:t>
            </a:r>
            <a:r>
              <a:rPr lang="en-IN" sz="2800" dirty="0"/>
              <a:t>");</a:t>
            </a:r>
            <a:r>
              <a:rPr lang="en-IN" sz="2800" dirty="0" smtClean="0"/>
              <a:t/>
            </a:r>
            <a:br>
              <a:rPr lang="en-IN" sz="2800" dirty="0" smtClean="0"/>
            </a:br>
            <a:r>
              <a:rPr lang="en-IN" sz="2800" dirty="0" err="1"/>
              <a:t>var</a:t>
            </a:r>
            <a:r>
              <a:rPr lang="en-IN" sz="2800" dirty="0"/>
              <a:t> </a:t>
            </a:r>
            <a:r>
              <a:rPr lang="en-IN" sz="2800" dirty="0" err="1"/>
              <a:t>ctx</a:t>
            </a:r>
            <a:r>
              <a:rPr lang="en-IN" sz="2800" dirty="0"/>
              <a:t>=</a:t>
            </a:r>
            <a:r>
              <a:rPr lang="en-IN" sz="2800" dirty="0" err="1"/>
              <a:t>c.getContext</a:t>
            </a:r>
            <a:r>
              <a:rPr lang="en-IN" sz="2800" dirty="0"/>
              <a:t>("2d");</a:t>
            </a:r>
            <a:r>
              <a:rPr lang="en-IN" sz="2800" dirty="0" smtClean="0"/>
              <a:t/>
            </a:r>
            <a:br>
              <a:rPr lang="en-IN" sz="2800" dirty="0" smtClean="0"/>
            </a:br>
            <a:r>
              <a:rPr lang="en-IN" sz="2800" dirty="0" err="1"/>
              <a:t>ctx.fillStyle</a:t>
            </a:r>
            <a:r>
              <a:rPr lang="en-IN" sz="2800" dirty="0"/>
              <a:t>="#FF0000";</a:t>
            </a:r>
            <a:r>
              <a:rPr lang="en-IN" sz="2800" dirty="0" smtClean="0"/>
              <a:t/>
            </a:r>
            <a:br>
              <a:rPr lang="en-IN" sz="2800" dirty="0" smtClean="0"/>
            </a:br>
            <a:r>
              <a:rPr lang="en-IN" sz="2800" dirty="0" err="1"/>
              <a:t>ctx.fillRect</a:t>
            </a:r>
            <a:r>
              <a:rPr lang="en-IN" sz="2800" dirty="0"/>
              <a:t>(20,20,150,100);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000364" y="3714752"/>
            <a:ext cx="3500462" cy="18145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IN" dirty="0" smtClean="0"/>
              <a:t/>
            </a:r>
            <a:br>
              <a:rPr lang="en-IN" dirty="0" smtClean="0"/>
            </a:br>
            <a:r>
              <a:rPr lang="en-IN" dirty="0" smtClean="0"/>
              <a:t>HTML </a:t>
            </a:r>
            <a:r>
              <a:rPr lang="en-IN" dirty="0"/>
              <a:t>canvas </a:t>
            </a:r>
            <a:r>
              <a:rPr lang="en-IN" dirty="0" err="1"/>
              <a:t>strokeStyle</a:t>
            </a:r>
            <a:r>
              <a:rPr lang="en-IN" dirty="0"/>
              <a:t> Property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Draw a rectangle. Use a stroke </a:t>
            </a:r>
            <a:r>
              <a:rPr lang="en-IN" dirty="0" err="1"/>
              <a:t>color</a:t>
            </a:r>
            <a:r>
              <a:rPr lang="en-IN" dirty="0"/>
              <a:t> of red:</a:t>
            </a:r>
            <a:endParaRPr lang="en-IN" dirty="0" smtClean="0"/>
          </a:p>
          <a:p>
            <a:pPr>
              <a:buNone/>
            </a:pPr>
            <a:r>
              <a:rPr lang="en-IN" dirty="0" smtClean="0"/>
              <a:t>Example</a:t>
            </a:r>
          </a:p>
          <a:p>
            <a:pPr>
              <a:buNone/>
            </a:pPr>
            <a:r>
              <a:rPr lang="en-IN" sz="2800" dirty="0" smtClean="0"/>
              <a:t>	</a:t>
            </a:r>
            <a:r>
              <a:rPr lang="en-IN" sz="2800" dirty="0" err="1" smtClean="0"/>
              <a:t>var</a:t>
            </a:r>
            <a:r>
              <a:rPr lang="en-IN" sz="2800" dirty="0" smtClean="0"/>
              <a:t> </a:t>
            </a:r>
            <a:r>
              <a:rPr lang="en-IN" sz="2800" dirty="0"/>
              <a:t>c=</a:t>
            </a:r>
            <a:r>
              <a:rPr lang="en-IN" sz="2800" dirty="0" err="1"/>
              <a:t>document.getElementById</a:t>
            </a:r>
            <a:r>
              <a:rPr lang="en-IN" sz="2800" dirty="0"/>
              <a:t>("</a:t>
            </a:r>
            <a:r>
              <a:rPr lang="en-IN" sz="2800" dirty="0" err="1"/>
              <a:t>myCanvas</a:t>
            </a:r>
            <a:r>
              <a:rPr lang="en-IN" sz="2800" dirty="0"/>
              <a:t>");</a:t>
            </a:r>
            <a:r>
              <a:rPr lang="en-IN" sz="2800" dirty="0" smtClean="0"/>
              <a:t/>
            </a:r>
            <a:br>
              <a:rPr lang="en-IN" sz="2800" dirty="0" smtClean="0"/>
            </a:br>
            <a:r>
              <a:rPr lang="en-IN" sz="2800" dirty="0" err="1"/>
              <a:t>var</a:t>
            </a:r>
            <a:r>
              <a:rPr lang="en-IN" sz="2800" dirty="0"/>
              <a:t> </a:t>
            </a:r>
            <a:r>
              <a:rPr lang="en-IN" sz="2800" dirty="0" err="1"/>
              <a:t>ctx</a:t>
            </a:r>
            <a:r>
              <a:rPr lang="en-IN" sz="2800" dirty="0"/>
              <a:t>=</a:t>
            </a:r>
            <a:r>
              <a:rPr lang="en-IN" sz="2800" dirty="0" err="1"/>
              <a:t>c.getContext</a:t>
            </a:r>
            <a:r>
              <a:rPr lang="en-IN" sz="2800" dirty="0"/>
              <a:t>("2d");</a:t>
            </a:r>
            <a:r>
              <a:rPr lang="en-IN" sz="2800" dirty="0" smtClean="0"/>
              <a:t/>
            </a:r>
            <a:br>
              <a:rPr lang="en-IN" sz="2800" dirty="0" smtClean="0"/>
            </a:br>
            <a:r>
              <a:rPr lang="en-IN" sz="2800" dirty="0" err="1"/>
              <a:t>ctx.strokeStyle</a:t>
            </a:r>
            <a:r>
              <a:rPr lang="en-IN" sz="2800" dirty="0"/>
              <a:t>="#FF0000";</a:t>
            </a:r>
            <a:r>
              <a:rPr lang="en-IN" sz="2800" dirty="0" smtClean="0"/>
              <a:t/>
            </a:r>
            <a:br>
              <a:rPr lang="en-IN" sz="2800" dirty="0" smtClean="0"/>
            </a:br>
            <a:r>
              <a:rPr lang="en-IN" sz="2800" dirty="0" err="1" smtClean="0"/>
              <a:t>ctx.strokeRect</a:t>
            </a:r>
            <a:r>
              <a:rPr lang="en-IN" sz="2800" dirty="0" smtClean="0"/>
              <a:t>(20,20,150,100);</a:t>
            </a:r>
          </a:p>
          <a:p>
            <a:pPr>
              <a:buNone/>
            </a:pPr>
            <a:r>
              <a:rPr lang="en-IN" sz="2800" b="1" dirty="0" err="1" smtClean="0">
                <a:solidFill>
                  <a:srgbClr val="002060"/>
                </a:solidFill>
              </a:rPr>
              <a:t>strokeRect</a:t>
            </a:r>
            <a:r>
              <a:rPr lang="en-IN" sz="2800" b="1" dirty="0" smtClean="0">
                <a:solidFill>
                  <a:srgbClr val="002060"/>
                </a:solidFill>
              </a:rPr>
              <a:t>() and </a:t>
            </a:r>
            <a:r>
              <a:rPr lang="en-IN" sz="2800" b="1" dirty="0" err="1" smtClean="0">
                <a:solidFill>
                  <a:srgbClr val="002060"/>
                </a:solidFill>
              </a:rPr>
              <a:t>fillRect</a:t>
            </a:r>
            <a:r>
              <a:rPr lang="en-IN" sz="2800" b="1" dirty="0" smtClean="0">
                <a:solidFill>
                  <a:srgbClr val="002060"/>
                </a:solidFill>
              </a:rPr>
              <a:t>() </a:t>
            </a:r>
          </a:p>
          <a:p>
            <a:pPr>
              <a:buNone/>
            </a:pPr>
            <a:r>
              <a:rPr lang="en-IN" sz="2800" b="1" dirty="0" smtClean="0">
                <a:solidFill>
                  <a:srgbClr val="002060"/>
                </a:solidFill>
              </a:rPr>
              <a:t>Immediately draws the </a:t>
            </a:r>
          </a:p>
          <a:p>
            <a:pPr>
              <a:buNone/>
            </a:pPr>
            <a:r>
              <a:rPr lang="en-IN" sz="2800" b="1" dirty="0" smtClean="0">
                <a:solidFill>
                  <a:srgbClr val="002060"/>
                </a:solidFill>
              </a:rPr>
              <a:t>rectangles </a:t>
            </a:r>
            <a:endParaRPr lang="en-IN" sz="2800" b="1" dirty="0">
              <a:solidFill>
                <a:srgbClr val="002060"/>
              </a:solidFill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005412" y="4714884"/>
            <a:ext cx="3067050" cy="1685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868346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/>
            </a:r>
            <a:br>
              <a:rPr lang="en-IN" dirty="0" smtClean="0"/>
            </a:br>
            <a:r>
              <a:rPr lang="en-IN" dirty="0"/>
              <a:t/>
            </a:r>
            <a:br>
              <a:rPr lang="en-IN" dirty="0"/>
            </a:br>
            <a:r>
              <a:rPr lang="en-IN" dirty="0" smtClean="0"/>
              <a:t>HTML </a:t>
            </a:r>
            <a:r>
              <a:rPr lang="en-IN" dirty="0"/>
              <a:t>canvas </a:t>
            </a:r>
            <a:r>
              <a:rPr lang="en-IN" dirty="0" err="1"/>
              <a:t>shadowColor</a:t>
            </a:r>
            <a:r>
              <a:rPr lang="en-IN" dirty="0"/>
              <a:t> Property</a:t>
            </a:r>
            <a:br>
              <a:rPr lang="en-IN" dirty="0"/>
            </a:br>
            <a:r>
              <a:rPr lang="en-IN" dirty="0" smtClean="0"/>
              <a:t/>
            </a:r>
            <a:br>
              <a:rPr lang="en-IN" dirty="0" smtClean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85860"/>
            <a:ext cx="4543428" cy="5214974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IN" dirty="0" smtClean="0"/>
              <a:t>&lt;html&gt;</a:t>
            </a:r>
          </a:p>
          <a:p>
            <a:pPr>
              <a:buNone/>
            </a:pPr>
            <a:r>
              <a:rPr lang="en-IN" dirty="0" smtClean="0"/>
              <a:t>&lt;body&gt;</a:t>
            </a:r>
          </a:p>
          <a:p>
            <a:pPr>
              <a:buNone/>
            </a:pPr>
            <a:endParaRPr lang="en-IN" dirty="0" smtClean="0"/>
          </a:p>
          <a:p>
            <a:pPr>
              <a:buNone/>
            </a:pPr>
            <a:r>
              <a:rPr lang="en-IN" dirty="0" smtClean="0"/>
              <a:t>&lt;canvas id="</a:t>
            </a:r>
            <a:r>
              <a:rPr lang="en-IN" dirty="0" err="1" smtClean="0"/>
              <a:t>myCanvas</a:t>
            </a:r>
            <a:r>
              <a:rPr lang="en-IN" dirty="0" smtClean="0"/>
              <a:t>" width="300" height="150" style="2px solid green;"&gt;</a:t>
            </a:r>
          </a:p>
          <a:p>
            <a:pPr>
              <a:buNone/>
            </a:pPr>
            <a:r>
              <a:rPr lang="en-IN" dirty="0" smtClean="0"/>
              <a:t>Your browser does not support the HTML5 canvas tag.&lt;/canvas&gt;</a:t>
            </a:r>
          </a:p>
          <a:p>
            <a:pPr>
              <a:buNone/>
            </a:pPr>
            <a:endParaRPr lang="en-IN" dirty="0" smtClean="0"/>
          </a:p>
          <a:p>
            <a:pPr>
              <a:buNone/>
            </a:pPr>
            <a:r>
              <a:rPr lang="en-IN" dirty="0" smtClean="0"/>
              <a:t>&lt;script&gt;</a:t>
            </a:r>
          </a:p>
          <a:p>
            <a:pPr>
              <a:buNone/>
            </a:pPr>
            <a:endParaRPr lang="en-IN" dirty="0" smtClean="0"/>
          </a:p>
          <a:p>
            <a:pPr>
              <a:buNone/>
            </a:pPr>
            <a:r>
              <a:rPr lang="en-IN" sz="2900" dirty="0" err="1" smtClean="0"/>
              <a:t>var</a:t>
            </a:r>
            <a:r>
              <a:rPr lang="en-IN" sz="2900" dirty="0" smtClean="0"/>
              <a:t> c = </a:t>
            </a:r>
            <a:r>
              <a:rPr lang="en-IN" sz="2900" dirty="0" err="1" smtClean="0"/>
              <a:t>document.getElementById</a:t>
            </a:r>
            <a:r>
              <a:rPr lang="en-IN" sz="2900" dirty="0" smtClean="0"/>
              <a:t>("</a:t>
            </a:r>
            <a:r>
              <a:rPr lang="en-IN" sz="2900" dirty="0" err="1" smtClean="0"/>
              <a:t>myCanvas</a:t>
            </a:r>
            <a:r>
              <a:rPr lang="en-IN" sz="2900" dirty="0" smtClean="0"/>
              <a:t>");</a:t>
            </a:r>
          </a:p>
          <a:p>
            <a:pPr>
              <a:buNone/>
            </a:pPr>
            <a:r>
              <a:rPr lang="en-IN" dirty="0" err="1" smtClean="0"/>
              <a:t>var</a:t>
            </a:r>
            <a:r>
              <a:rPr lang="en-IN" dirty="0" smtClean="0"/>
              <a:t> </a:t>
            </a:r>
            <a:r>
              <a:rPr lang="en-IN" dirty="0" err="1" smtClean="0"/>
              <a:t>ctx</a:t>
            </a:r>
            <a:r>
              <a:rPr lang="en-IN" dirty="0" smtClean="0"/>
              <a:t> = </a:t>
            </a:r>
            <a:r>
              <a:rPr lang="en-IN" dirty="0" err="1" smtClean="0"/>
              <a:t>c.getContext</a:t>
            </a:r>
            <a:r>
              <a:rPr lang="en-IN" dirty="0" smtClean="0"/>
              <a:t>("2d");</a:t>
            </a:r>
          </a:p>
          <a:p>
            <a:pPr>
              <a:buNone/>
            </a:pPr>
            <a:r>
              <a:rPr lang="en-IN" dirty="0" err="1" smtClean="0"/>
              <a:t>ctx.shadowBlur</a:t>
            </a:r>
            <a:r>
              <a:rPr lang="en-IN" dirty="0" smtClean="0"/>
              <a:t> = 20;</a:t>
            </a:r>
          </a:p>
          <a:p>
            <a:pPr>
              <a:buNone/>
            </a:pPr>
            <a:r>
              <a:rPr lang="en-IN" dirty="0" err="1" smtClean="0"/>
              <a:t>ctx.fillStyle</a:t>
            </a:r>
            <a:r>
              <a:rPr lang="en-IN" dirty="0" smtClean="0"/>
              <a:t> = "red";</a:t>
            </a:r>
          </a:p>
          <a:p>
            <a:pPr>
              <a:buNone/>
            </a:pPr>
            <a:endParaRPr lang="en-IN" dirty="0"/>
          </a:p>
          <a:p>
            <a:pPr>
              <a:buNone/>
            </a:pPr>
            <a:r>
              <a:rPr lang="en-IN" sz="3600" b="1" dirty="0" err="1" smtClean="0">
                <a:solidFill>
                  <a:srgbClr val="FF0000"/>
                </a:solidFill>
              </a:rPr>
              <a:t>shadowBlur</a:t>
            </a:r>
            <a:r>
              <a:rPr lang="en-IN" sz="3600" b="1" dirty="0" smtClean="0">
                <a:solidFill>
                  <a:srgbClr val="FF0000"/>
                </a:solidFill>
              </a:rPr>
              <a:t> and </a:t>
            </a:r>
            <a:r>
              <a:rPr lang="en-IN" sz="3600" b="1" dirty="0" err="1" smtClean="0">
                <a:solidFill>
                  <a:srgbClr val="FF0000"/>
                </a:solidFill>
              </a:rPr>
              <a:t>shadowColor</a:t>
            </a:r>
            <a:r>
              <a:rPr lang="en-IN" sz="3600" b="1" dirty="0" smtClean="0">
                <a:solidFill>
                  <a:srgbClr val="FF0000"/>
                </a:solidFill>
              </a:rPr>
              <a:t> property together creates shadow</a:t>
            </a:r>
          </a:p>
          <a:p>
            <a:pPr>
              <a:buNone/>
            </a:pPr>
            <a:endParaRPr lang="en-IN" dirty="0" smtClean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886356" y="1214422"/>
            <a:ext cx="4114800" cy="4143404"/>
          </a:xfrm>
          <a:prstGeom prst="rect">
            <a:avLst/>
          </a:prstGeom>
        </p:spPr>
        <p:txBody>
          <a:bodyPr vert="horz" lIns="91440" tIns="45720" rIns="91440" bIns="45720" rtlCol="0">
            <a:normAutofit fontScale="55000" lnSpcReduction="20000"/>
          </a:bodyPr>
          <a:lstStyle/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IN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ctx.shadowColor</a:t>
            </a:r>
            <a:r>
              <a:rPr kumimoji="0" lang="en-IN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 "black";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IN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ctx.fillRect</a:t>
            </a:r>
            <a:r>
              <a:rPr kumimoji="0" lang="en-IN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(20, 20, 100, 80);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IN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IN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ctx.shadowColor</a:t>
            </a:r>
            <a:r>
              <a:rPr kumimoji="0" lang="en-IN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= "blue";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IN" sz="32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ctx.fillRect</a:t>
            </a:r>
            <a:r>
              <a:rPr kumimoji="0" lang="en-IN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(140, 20, 100, 80);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IN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IN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&lt;/script&gt;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IN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IN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&lt;p&gt;&lt;strong&gt;Note:&lt;/strong&gt; The canvas tag is not supported in Internet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IN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Explorer 8 and earlier versions.&lt;/p&gt;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endParaRPr kumimoji="0" lang="en-IN" sz="32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IN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&lt;/body&gt;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r>
              <a:rPr kumimoji="0" lang="en-IN" sz="32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&lt;/html&gt;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286380" y="4929198"/>
            <a:ext cx="2962275" cy="158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82594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/>
            </a:r>
            <a:br>
              <a:rPr lang="en-IN" dirty="0" smtClean="0"/>
            </a:br>
            <a:r>
              <a:rPr lang="en-IN" dirty="0" smtClean="0"/>
              <a:t>HTML </a:t>
            </a:r>
            <a:r>
              <a:rPr lang="en-IN" dirty="0"/>
              <a:t>canvas </a:t>
            </a:r>
            <a:r>
              <a:rPr lang="en-IN" dirty="0" err="1"/>
              <a:t>rect</a:t>
            </a:r>
            <a:r>
              <a:rPr lang="en-IN" dirty="0"/>
              <a:t>() Method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71572"/>
            <a:ext cx="8229600" cy="3543312"/>
          </a:xfrm>
        </p:spPr>
        <p:txBody>
          <a:bodyPr>
            <a:normAutofit fontScale="70000" lnSpcReduction="20000"/>
          </a:bodyPr>
          <a:lstStyle/>
          <a:p>
            <a:r>
              <a:rPr lang="en-IN" dirty="0"/>
              <a:t>Draw a 150*100 pixels </a:t>
            </a:r>
            <a:r>
              <a:rPr lang="en-IN" dirty="0" smtClean="0"/>
              <a:t>rectangle</a:t>
            </a:r>
            <a:endParaRPr lang="en-IN" dirty="0"/>
          </a:p>
          <a:p>
            <a:pPr>
              <a:buNone/>
            </a:pPr>
            <a:r>
              <a:rPr lang="en-IN" dirty="0" smtClean="0"/>
              <a:t>Example</a:t>
            </a:r>
          </a:p>
          <a:p>
            <a:pPr>
              <a:buNone/>
            </a:pPr>
            <a:r>
              <a:rPr lang="en-IN" sz="2800" dirty="0" smtClean="0"/>
              <a:t>	</a:t>
            </a:r>
            <a:r>
              <a:rPr lang="en-IN" sz="3000" dirty="0" err="1" smtClean="0"/>
              <a:t>var</a:t>
            </a:r>
            <a:r>
              <a:rPr lang="en-IN" sz="3000" dirty="0" smtClean="0"/>
              <a:t> </a:t>
            </a:r>
            <a:r>
              <a:rPr lang="en-IN" sz="3000" dirty="0"/>
              <a:t>c=</a:t>
            </a:r>
            <a:r>
              <a:rPr lang="en-IN" sz="3000" dirty="0" err="1"/>
              <a:t>document.getElementById</a:t>
            </a:r>
            <a:r>
              <a:rPr lang="en-IN" sz="3000" dirty="0"/>
              <a:t>("</a:t>
            </a:r>
            <a:r>
              <a:rPr lang="en-IN" sz="3000" dirty="0" err="1"/>
              <a:t>myCanvas</a:t>
            </a:r>
            <a:r>
              <a:rPr lang="en-IN" sz="3000" dirty="0"/>
              <a:t>");</a:t>
            </a:r>
            <a:r>
              <a:rPr lang="en-IN" sz="3000" dirty="0" smtClean="0"/>
              <a:t/>
            </a:r>
            <a:br>
              <a:rPr lang="en-IN" sz="3000" dirty="0" smtClean="0"/>
            </a:br>
            <a:r>
              <a:rPr lang="en-IN" sz="3000" dirty="0" err="1"/>
              <a:t>var</a:t>
            </a:r>
            <a:r>
              <a:rPr lang="en-IN" sz="3000" dirty="0"/>
              <a:t> </a:t>
            </a:r>
            <a:r>
              <a:rPr lang="en-IN" sz="3000" dirty="0" err="1"/>
              <a:t>ctx</a:t>
            </a:r>
            <a:r>
              <a:rPr lang="en-IN" sz="3000" dirty="0"/>
              <a:t>=</a:t>
            </a:r>
            <a:r>
              <a:rPr lang="en-IN" sz="3000" dirty="0" err="1"/>
              <a:t>c.getContext</a:t>
            </a:r>
            <a:r>
              <a:rPr lang="en-IN" sz="3000" dirty="0"/>
              <a:t>("2d");</a:t>
            </a:r>
            <a:r>
              <a:rPr lang="en-IN" sz="3000" dirty="0" smtClean="0"/>
              <a:t/>
            </a:r>
            <a:br>
              <a:rPr lang="en-IN" sz="3000" dirty="0" smtClean="0"/>
            </a:br>
            <a:r>
              <a:rPr lang="en-IN" sz="3000" dirty="0" err="1"/>
              <a:t>ctx.rect</a:t>
            </a:r>
            <a:r>
              <a:rPr lang="en-IN" sz="3000" dirty="0"/>
              <a:t>(20,20,150,100);</a:t>
            </a:r>
            <a:r>
              <a:rPr lang="en-IN" sz="3000" dirty="0" smtClean="0"/>
              <a:t/>
            </a:r>
            <a:br>
              <a:rPr lang="en-IN" sz="3000" dirty="0" smtClean="0"/>
            </a:br>
            <a:r>
              <a:rPr lang="en-IN" sz="3000" dirty="0" err="1"/>
              <a:t>ctx.stroke</a:t>
            </a:r>
            <a:r>
              <a:rPr lang="en-IN" sz="3000" dirty="0" smtClean="0"/>
              <a:t>();</a:t>
            </a:r>
          </a:p>
          <a:p>
            <a:endParaRPr lang="en-IN" dirty="0" smtClean="0"/>
          </a:p>
          <a:p>
            <a:endParaRPr lang="en-IN" dirty="0" smtClean="0"/>
          </a:p>
          <a:p>
            <a:pPr>
              <a:buNone/>
            </a:pPr>
            <a:r>
              <a:rPr lang="en-IN" b="1" dirty="0" smtClean="0">
                <a:solidFill>
                  <a:srgbClr val="7030A0"/>
                </a:solidFill>
              </a:rPr>
              <a:t>The </a:t>
            </a:r>
            <a:r>
              <a:rPr lang="en-IN" b="1" dirty="0" err="1" smtClean="0">
                <a:solidFill>
                  <a:srgbClr val="7030A0"/>
                </a:solidFill>
              </a:rPr>
              <a:t>rect</a:t>
            </a:r>
            <a:r>
              <a:rPr lang="en-IN" b="1" dirty="0" smtClean="0">
                <a:solidFill>
                  <a:srgbClr val="7030A0"/>
                </a:solidFill>
              </a:rPr>
              <a:t> function is a "path" function - </a:t>
            </a:r>
            <a:r>
              <a:rPr lang="en-IN" b="1" dirty="0" err="1" smtClean="0">
                <a:solidFill>
                  <a:srgbClr val="7030A0"/>
                </a:solidFill>
              </a:rPr>
              <a:t>ie</a:t>
            </a:r>
            <a:r>
              <a:rPr lang="en-IN" b="1" dirty="0" smtClean="0">
                <a:solidFill>
                  <a:srgbClr val="7030A0"/>
                </a:solidFill>
              </a:rPr>
              <a:t> you use it when building paths. It doesn't draw anything to the canvas until you call the stroke() or fill() functions</a:t>
            </a:r>
            <a:r>
              <a:rPr lang="en-IN" dirty="0" smtClean="0">
                <a:solidFill>
                  <a:srgbClr val="7030A0"/>
                </a:solidFill>
              </a:rPr>
              <a:t>.</a:t>
            </a:r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929190" y="4714884"/>
            <a:ext cx="3028950" cy="15811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25470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/>
            </a:r>
            <a:br>
              <a:rPr lang="en-IN" dirty="0" smtClean="0"/>
            </a:br>
            <a:r>
              <a:rPr lang="en-IN" dirty="0" smtClean="0"/>
              <a:t>HTML </a:t>
            </a:r>
            <a:r>
              <a:rPr lang="en-IN" dirty="0"/>
              <a:t>canvas </a:t>
            </a:r>
            <a:r>
              <a:rPr lang="en-IN" dirty="0" err="1"/>
              <a:t>clearRect</a:t>
            </a:r>
            <a:r>
              <a:rPr lang="en-IN" dirty="0"/>
              <a:t>() Method</a:t>
            </a:r>
            <a:br>
              <a:rPr lang="en-IN" dirty="0"/>
            </a:b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14422"/>
            <a:ext cx="8229600" cy="3400436"/>
          </a:xfrm>
        </p:spPr>
        <p:txBody>
          <a:bodyPr>
            <a:normAutofit fontScale="92500" lnSpcReduction="20000"/>
          </a:bodyPr>
          <a:lstStyle/>
          <a:p>
            <a:r>
              <a:rPr lang="en-IN" dirty="0"/>
              <a:t>Clear a rectangle within a given </a:t>
            </a:r>
            <a:r>
              <a:rPr lang="en-IN" dirty="0" smtClean="0"/>
              <a:t>rectangle</a:t>
            </a:r>
          </a:p>
          <a:p>
            <a:pPr>
              <a:buNone/>
            </a:pPr>
            <a:r>
              <a:rPr lang="en-IN" dirty="0" smtClean="0"/>
              <a:t>Example</a:t>
            </a:r>
          </a:p>
          <a:p>
            <a:pPr>
              <a:buNone/>
            </a:pPr>
            <a:r>
              <a:rPr lang="en-IN" dirty="0" err="1" smtClean="0"/>
              <a:t>var</a:t>
            </a:r>
            <a:r>
              <a:rPr lang="en-IN" dirty="0" smtClean="0"/>
              <a:t> </a:t>
            </a:r>
            <a:r>
              <a:rPr lang="en-IN" dirty="0"/>
              <a:t>c=</a:t>
            </a:r>
            <a:r>
              <a:rPr lang="en-IN" dirty="0" err="1"/>
              <a:t>document.getElementById</a:t>
            </a:r>
            <a:r>
              <a:rPr lang="en-IN" dirty="0"/>
              <a:t>("</a:t>
            </a:r>
            <a:r>
              <a:rPr lang="en-IN" dirty="0" err="1"/>
              <a:t>myCanvas</a:t>
            </a:r>
            <a:r>
              <a:rPr lang="en-IN" dirty="0" smtClean="0"/>
              <a:t>");</a:t>
            </a:r>
            <a:endParaRPr lang="en-IN" dirty="0"/>
          </a:p>
          <a:p>
            <a:pPr>
              <a:buNone/>
            </a:pPr>
            <a:r>
              <a:rPr lang="en-IN" dirty="0" err="1" smtClean="0"/>
              <a:t>var</a:t>
            </a:r>
            <a:r>
              <a:rPr lang="en-IN" dirty="0" smtClean="0"/>
              <a:t> </a:t>
            </a:r>
            <a:r>
              <a:rPr lang="en-IN" dirty="0" err="1"/>
              <a:t>ctx</a:t>
            </a:r>
            <a:r>
              <a:rPr lang="en-IN" dirty="0"/>
              <a:t>=</a:t>
            </a:r>
            <a:r>
              <a:rPr lang="en-IN" dirty="0" err="1"/>
              <a:t>c.getContext</a:t>
            </a:r>
            <a:r>
              <a:rPr lang="en-IN" dirty="0"/>
              <a:t>("2d</a:t>
            </a:r>
            <a:r>
              <a:rPr lang="en-IN" dirty="0" smtClean="0"/>
              <a:t>");</a:t>
            </a:r>
            <a:endParaRPr lang="en-IN" dirty="0"/>
          </a:p>
          <a:p>
            <a:pPr>
              <a:buNone/>
            </a:pPr>
            <a:r>
              <a:rPr lang="en-IN" dirty="0" err="1" smtClean="0"/>
              <a:t>ctx.fillStyle</a:t>
            </a:r>
            <a:r>
              <a:rPr lang="en-IN" dirty="0"/>
              <a:t>="red</a:t>
            </a:r>
            <a:r>
              <a:rPr lang="en-IN" dirty="0" smtClean="0"/>
              <a:t>";</a:t>
            </a:r>
            <a:endParaRPr lang="en-IN" dirty="0"/>
          </a:p>
          <a:p>
            <a:pPr>
              <a:buNone/>
            </a:pPr>
            <a:r>
              <a:rPr lang="en-IN" dirty="0" err="1" smtClean="0"/>
              <a:t>ctx.fillRect</a:t>
            </a:r>
            <a:r>
              <a:rPr lang="en-IN" dirty="0" smtClean="0"/>
              <a:t>(0,0,300,150);</a:t>
            </a:r>
            <a:endParaRPr lang="en-IN" dirty="0"/>
          </a:p>
          <a:p>
            <a:pPr>
              <a:buNone/>
            </a:pPr>
            <a:r>
              <a:rPr lang="en-IN" dirty="0" err="1" smtClean="0"/>
              <a:t>ctx.clearRect</a:t>
            </a:r>
            <a:r>
              <a:rPr lang="en-IN" dirty="0" smtClean="0"/>
              <a:t>(20,20,100,50</a:t>
            </a:r>
            <a:r>
              <a:rPr lang="en-IN" dirty="0"/>
              <a:t>);</a:t>
            </a: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4214810" y="4572008"/>
            <a:ext cx="3143272" cy="2000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582594"/>
          </a:xfrm>
        </p:spPr>
        <p:txBody>
          <a:bodyPr>
            <a:normAutofit fontScale="90000"/>
          </a:bodyPr>
          <a:lstStyle/>
          <a:p>
            <a:r>
              <a:rPr lang="en-IN" dirty="0" smtClean="0"/>
              <a:t>HTML Canvas – Drawing Image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0010" y="1000108"/>
            <a:ext cx="5829312" cy="5786478"/>
          </a:xfrm>
        </p:spPr>
        <p:txBody>
          <a:bodyPr>
            <a:normAutofit fontScale="55000" lnSpcReduction="20000"/>
          </a:bodyPr>
          <a:lstStyle/>
          <a:p>
            <a:pPr>
              <a:buNone/>
            </a:pPr>
            <a:r>
              <a:rPr lang="en-IN" dirty="0" smtClean="0"/>
              <a:t>&lt;html&gt;</a:t>
            </a:r>
          </a:p>
          <a:p>
            <a:pPr>
              <a:buNone/>
            </a:pPr>
            <a:r>
              <a:rPr lang="en-IN" dirty="0" smtClean="0"/>
              <a:t>&lt;body</a:t>
            </a:r>
            <a:r>
              <a:rPr lang="en-IN" dirty="0" smtClean="0"/>
              <a:t>&gt;</a:t>
            </a:r>
            <a:endParaRPr lang="en-IN" dirty="0" smtClean="0"/>
          </a:p>
          <a:p>
            <a:pPr>
              <a:buNone/>
            </a:pPr>
            <a:r>
              <a:rPr lang="en-IN" dirty="0" smtClean="0"/>
              <a:t>&lt;p&gt;Image to use:&lt;/p&gt;</a:t>
            </a:r>
          </a:p>
          <a:p>
            <a:pPr>
              <a:buNone/>
            </a:pPr>
            <a:r>
              <a:rPr lang="en-IN" dirty="0" smtClean="0"/>
              <a:t>&lt;</a:t>
            </a:r>
            <a:r>
              <a:rPr lang="en-IN" dirty="0" err="1" smtClean="0"/>
              <a:t>img</a:t>
            </a:r>
            <a:r>
              <a:rPr lang="en-IN" dirty="0" smtClean="0"/>
              <a:t> id="f1" </a:t>
            </a:r>
            <a:r>
              <a:rPr lang="en-IN" dirty="0" err="1" smtClean="0"/>
              <a:t>src</a:t>
            </a:r>
            <a:r>
              <a:rPr lang="en-IN" dirty="0" smtClean="0"/>
              <a:t>="rose.jpg" alt="The Scream" width="220" height="277"&gt;</a:t>
            </a:r>
          </a:p>
          <a:p>
            <a:pPr>
              <a:buNone/>
            </a:pPr>
            <a:r>
              <a:rPr lang="en-IN" dirty="0" smtClean="0"/>
              <a:t>&lt;</a:t>
            </a:r>
            <a:r>
              <a:rPr lang="en-IN" dirty="0" smtClean="0"/>
              <a:t>p&gt;Canvas to fill:&lt;/p&gt;</a:t>
            </a:r>
          </a:p>
          <a:p>
            <a:pPr>
              <a:buNone/>
            </a:pPr>
            <a:r>
              <a:rPr lang="en-IN" dirty="0" smtClean="0"/>
              <a:t>&lt;canvas id="</a:t>
            </a:r>
            <a:r>
              <a:rPr lang="en-IN" dirty="0" err="1" smtClean="0"/>
              <a:t>myCanvas</a:t>
            </a:r>
            <a:r>
              <a:rPr lang="en-IN" dirty="0" smtClean="0"/>
              <a:t>" width="250" height="300"</a:t>
            </a:r>
          </a:p>
          <a:p>
            <a:pPr>
              <a:buNone/>
            </a:pPr>
            <a:r>
              <a:rPr lang="en-IN" dirty="0" smtClean="0"/>
              <a:t>style="border:1px solid #d3d3d3;"&gt;</a:t>
            </a:r>
          </a:p>
          <a:p>
            <a:pPr>
              <a:buNone/>
            </a:pPr>
            <a:r>
              <a:rPr lang="en-IN" dirty="0" smtClean="0"/>
              <a:t>Your browser does not support the HTML5 canvas tag.&lt;/canvas&gt;</a:t>
            </a:r>
          </a:p>
          <a:p>
            <a:pPr>
              <a:buNone/>
            </a:pPr>
            <a:r>
              <a:rPr lang="en-IN" dirty="0" smtClean="0"/>
              <a:t>&lt;</a:t>
            </a:r>
            <a:r>
              <a:rPr lang="en-IN" dirty="0" smtClean="0"/>
              <a:t>p&gt;&lt;button </a:t>
            </a:r>
            <a:r>
              <a:rPr lang="en-IN" dirty="0" err="1" smtClean="0"/>
              <a:t>onclick</a:t>
            </a:r>
            <a:r>
              <a:rPr lang="en-IN" dirty="0" smtClean="0"/>
              <a:t>="</a:t>
            </a:r>
            <a:r>
              <a:rPr lang="en-IN" dirty="0" err="1" smtClean="0"/>
              <a:t>myCanvas</a:t>
            </a:r>
            <a:r>
              <a:rPr lang="en-IN" dirty="0" smtClean="0"/>
              <a:t>()"&gt;Try it&lt;/button&gt;&lt;/p&gt;</a:t>
            </a:r>
          </a:p>
          <a:p>
            <a:pPr>
              <a:buNone/>
            </a:pPr>
            <a:r>
              <a:rPr lang="en-IN" dirty="0" smtClean="0"/>
              <a:t>&lt;</a:t>
            </a:r>
            <a:r>
              <a:rPr lang="en-IN" dirty="0" smtClean="0"/>
              <a:t>script&gt;</a:t>
            </a:r>
          </a:p>
          <a:p>
            <a:pPr>
              <a:buNone/>
            </a:pPr>
            <a:r>
              <a:rPr lang="en-IN" dirty="0" smtClean="0"/>
              <a:t>function </a:t>
            </a:r>
            <a:r>
              <a:rPr lang="en-IN" dirty="0" err="1" smtClean="0"/>
              <a:t>myCanvas</a:t>
            </a:r>
            <a:r>
              <a:rPr lang="en-IN" dirty="0" smtClean="0"/>
              <a:t>() {</a:t>
            </a:r>
          </a:p>
          <a:p>
            <a:pPr>
              <a:buNone/>
            </a:pPr>
            <a:r>
              <a:rPr lang="en-IN" dirty="0" smtClean="0"/>
              <a:t>    </a:t>
            </a:r>
            <a:r>
              <a:rPr lang="en-IN" dirty="0" err="1" smtClean="0"/>
              <a:t>var</a:t>
            </a:r>
            <a:r>
              <a:rPr lang="en-IN" dirty="0" smtClean="0"/>
              <a:t> c = </a:t>
            </a:r>
            <a:r>
              <a:rPr lang="en-IN" dirty="0" err="1" smtClean="0"/>
              <a:t>document.getElementById</a:t>
            </a:r>
            <a:r>
              <a:rPr lang="en-IN" dirty="0" smtClean="0"/>
              <a:t>("</a:t>
            </a:r>
            <a:r>
              <a:rPr lang="en-IN" dirty="0" err="1" smtClean="0"/>
              <a:t>myCanvas</a:t>
            </a:r>
            <a:r>
              <a:rPr lang="en-IN" dirty="0" smtClean="0"/>
              <a:t>");</a:t>
            </a:r>
          </a:p>
          <a:p>
            <a:pPr>
              <a:buNone/>
            </a:pPr>
            <a:r>
              <a:rPr lang="en-IN" dirty="0" smtClean="0"/>
              <a:t>    </a:t>
            </a:r>
            <a:r>
              <a:rPr lang="en-IN" dirty="0" err="1" smtClean="0"/>
              <a:t>var</a:t>
            </a:r>
            <a:r>
              <a:rPr lang="en-IN" dirty="0" smtClean="0"/>
              <a:t> </a:t>
            </a:r>
            <a:r>
              <a:rPr lang="en-IN" dirty="0" err="1" smtClean="0"/>
              <a:t>ctx</a:t>
            </a:r>
            <a:r>
              <a:rPr lang="en-IN" dirty="0" smtClean="0"/>
              <a:t> = </a:t>
            </a:r>
            <a:r>
              <a:rPr lang="en-IN" dirty="0" err="1" smtClean="0"/>
              <a:t>c.getContext</a:t>
            </a:r>
            <a:r>
              <a:rPr lang="en-IN" dirty="0" smtClean="0"/>
              <a:t>("2d");</a:t>
            </a:r>
          </a:p>
          <a:p>
            <a:pPr>
              <a:buNone/>
            </a:pPr>
            <a:r>
              <a:rPr lang="en-IN" dirty="0" smtClean="0"/>
              <a:t>    </a:t>
            </a:r>
            <a:r>
              <a:rPr lang="en-IN" dirty="0" err="1" smtClean="0"/>
              <a:t>var</a:t>
            </a:r>
            <a:r>
              <a:rPr lang="en-IN" dirty="0" smtClean="0"/>
              <a:t> </a:t>
            </a:r>
            <a:r>
              <a:rPr lang="en-IN" dirty="0" err="1" smtClean="0"/>
              <a:t>img</a:t>
            </a:r>
            <a:r>
              <a:rPr lang="en-IN" dirty="0" smtClean="0"/>
              <a:t> = </a:t>
            </a:r>
            <a:r>
              <a:rPr lang="en-IN" dirty="0" err="1" smtClean="0"/>
              <a:t>document.getElementById</a:t>
            </a:r>
            <a:r>
              <a:rPr lang="en-IN" dirty="0" smtClean="0"/>
              <a:t>("f1");</a:t>
            </a:r>
          </a:p>
          <a:p>
            <a:pPr>
              <a:buNone/>
            </a:pPr>
            <a:r>
              <a:rPr lang="en-IN" dirty="0" smtClean="0"/>
              <a:t>    </a:t>
            </a:r>
            <a:r>
              <a:rPr lang="en-IN" dirty="0" err="1" smtClean="0"/>
              <a:t>ctx.drawImage</a:t>
            </a:r>
            <a:r>
              <a:rPr lang="en-IN" dirty="0" smtClean="0"/>
              <a:t>(img,10,10);</a:t>
            </a:r>
          </a:p>
          <a:p>
            <a:pPr>
              <a:buNone/>
            </a:pPr>
            <a:r>
              <a:rPr lang="en-IN" dirty="0" smtClean="0"/>
              <a:t>}</a:t>
            </a:r>
          </a:p>
          <a:p>
            <a:pPr>
              <a:buNone/>
            </a:pPr>
            <a:r>
              <a:rPr lang="en-IN" dirty="0" smtClean="0"/>
              <a:t>&lt;/script&gt;</a:t>
            </a:r>
          </a:p>
          <a:p>
            <a:pPr>
              <a:buNone/>
            </a:pPr>
            <a:r>
              <a:rPr lang="en-IN" dirty="0" smtClean="0"/>
              <a:t>&lt;/</a:t>
            </a:r>
            <a:r>
              <a:rPr lang="en-IN" dirty="0" smtClean="0"/>
              <a:t>body&gt;</a:t>
            </a:r>
          </a:p>
          <a:p>
            <a:pPr>
              <a:buNone/>
            </a:pPr>
            <a:r>
              <a:rPr lang="en-IN" dirty="0" smtClean="0"/>
              <a:t>&lt;/html&gt;</a:t>
            </a:r>
            <a:endParaRPr lang="en-IN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5715008" y="1000108"/>
            <a:ext cx="3143272" cy="55007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425</TotalTime>
  <Words>659</Words>
  <Application>Microsoft Office PowerPoint</Application>
  <PresentationFormat>On-screen Show (4:3)</PresentationFormat>
  <Paragraphs>122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Canvas Element</vt:lpstr>
      <vt:lpstr>New Elements in HTML5</vt:lpstr>
      <vt:lpstr>HTMl – Canvas Element</vt:lpstr>
      <vt:lpstr>Drawing Text</vt:lpstr>
      <vt:lpstr>Drawing a Line</vt:lpstr>
      <vt:lpstr> HTML canvas fillStyle Property </vt:lpstr>
      <vt:lpstr> HTML canvas strokeStyle Property </vt:lpstr>
      <vt:lpstr>  HTML canvas shadowColor Property  </vt:lpstr>
      <vt:lpstr> HTML canvas rect() Method </vt:lpstr>
      <vt:lpstr> HTML canvas clearRect() Method </vt:lpstr>
      <vt:lpstr>HTML Canvas – Drawing Image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staff</dc:creator>
  <cp:lastModifiedBy>staff</cp:lastModifiedBy>
  <cp:revision>29</cp:revision>
  <dcterms:created xsi:type="dcterms:W3CDTF">2016-07-08T06:23:35Z</dcterms:created>
  <dcterms:modified xsi:type="dcterms:W3CDTF">2016-07-20T03:24:04Z</dcterms:modified>
</cp:coreProperties>
</file>