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4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B35DD-AA88-4878-B6AB-926FF29E2DAB}" type="datetimeFigureOut">
              <a:rPr lang="en-US" smtClean="0"/>
              <a:t>7/11/2016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498-6DE8-4A6C-A2EE-FA1F4572CFA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B35DD-AA88-4878-B6AB-926FF29E2DAB}" type="datetimeFigureOut">
              <a:rPr lang="en-US" smtClean="0"/>
              <a:t>7/11/2016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498-6DE8-4A6C-A2EE-FA1F4572CFA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B35DD-AA88-4878-B6AB-926FF29E2DAB}" type="datetimeFigureOut">
              <a:rPr lang="en-US" smtClean="0"/>
              <a:t>7/11/2016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498-6DE8-4A6C-A2EE-FA1F4572CFA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B35DD-AA88-4878-B6AB-926FF29E2DAB}" type="datetimeFigureOut">
              <a:rPr lang="en-US" smtClean="0"/>
              <a:t>7/11/2016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498-6DE8-4A6C-A2EE-FA1F4572CFA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B35DD-AA88-4878-B6AB-926FF29E2DAB}" type="datetimeFigureOut">
              <a:rPr lang="en-US" smtClean="0"/>
              <a:t>7/11/2016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498-6DE8-4A6C-A2EE-FA1F4572CFA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B35DD-AA88-4878-B6AB-926FF29E2DAB}" type="datetimeFigureOut">
              <a:rPr lang="en-US" smtClean="0"/>
              <a:t>7/11/2016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498-6DE8-4A6C-A2EE-FA1F4572CFA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B35DD-AA88-4878-B6AB-926FF29E2DAB}" type="datetimeFigureOut">
              <a:rPr lang="en-US" smtClean="0"/>
              <a:t>7/11/2016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498-6DE8-4A6C-A2EE-FA1F4572CFA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B35DD-AA88-4878-B6AB-926FF29E2DAB}" type="datetimeFigureOut">
              <a:rPr lang="en-US" smtClean="0"/>
              <a:t>7/11/2016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498-6DE8-4A6C-A2EE-FA1F4572CFA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B35DD-AA88-4878-B6AB-926FF29E2DAB}" type="datetimeFigureOut">
              <a:rPr lang="en-US" smtClean="0"/>
              <a:t>7/11/2016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498-6DE8-4A6C-A2EE-FA1F4572CFA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B35DD-AA88-4878-B6AB-926FF29E2DAB}" type="datetimeFigureOut">
              <a:rPr lang="en-US" smtClean="0"/>
              <a:t>7/11/2016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498-6DE8-4A6C-A2EE-FA1F4572CFA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B35DD-AA88-4878-B6AB-926FF29E2DAB}" type="datetimeFigureOut">
              <a:rPr lang="en-US" smtClean="0"/>
              <a:t>7/11/2016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498-6DE8-4A6C-A2EE-FA1F4572CFA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B35DD-AA88-4878-B6AB-926FF29E2DAB}" type="datetimeFigureOut">
              <a:rPr lang="en-US" smtClean="0"/>
              <a:t>7/11/2016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0E9498-6DE8-4A6C-A2EE-FA1F4572CFA9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Cascading </a:t>
            </a:r>
            <a:r>
              <a:rPr lang="en-IN" smtClean="0"/>
              <a:t>Style Sheets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Jackson, Web Technologies: A Computer Science Perspective, © 2007 Prentice-Hall, Inc. All rights reserved. 0-13-185603-0 </a:t>
            </a:r>
          </a:p>
        </p:txBody>
      </p:sp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CSS Font Properties</a:t>
            </a:r>
          </a:p>
        </p:txBody>
      </p:sp>
      <p:sp>
        <p:nvSpPr>
          <p:cNvPr id="297993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</a:t>
            </a:r>
            <a:r>
              <a:rPr lang="en-US">
                <a:solidFill>
                  <a:schemeClr val="hlink"/>
                </a:solidFill>
              </a:rPr>
              <a:t>font</a:t>
            </a:r>
            <a:r>
              <a:rPr lang="en-US"/>
              <a:t> is a mapping from code points to </a:t>
            </a:r>
            <a:r>
              <a:rPr lang="en-US">
                <a:solidFill>
                  <a:schemeClr val="hlink"/>
                </a:solidFill>
              </a:rPr>
              <a:t>glyphs</a:t>
            </a:r>
          </a:p>
        </p:txBody>
      </p:sp>
      <p:pic>
        <p:nvPicPr>
          <p:cNvPr id="297988" name="Picture 4" descr="LineOTyp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2743200"/>
            <a:ext cx="7620000" cy="2938463"/>
          </a:xfrm>
          <a:prstGeom prst="rect">
            <a:avLst/>
          </a:prstGeom>
          <a:noFill/>
        </p:spPr>
      </p:pic>
      <p:sp>
        <p:nvSpPr>
          <p:cNvPr id="297989" name="Text Box 5"/>
          <p:cNvSpPr txBox="1">
            <a:spLocks noChangeArrowheads="1"/>
          </p:cNvSpPr>
          <p:nvPr/>
        </p:nvSpPr>
        <p:spPr bwMode="auto">
          <a:xfrm>
            <a:off x="2514600" y="2362200"/>
            <a:ext cx="730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glyph</a:t>
            </a:r>
          </a:p>
        </p:txBody>
      </p:sp>
      <p:sp>
        <p:nvSpPr>
          <p:cNvPr id="297990" name="Line 6"/>
          <p:cNvSpPr>
            <a:spLocks noChangeShapeType="1"/>
          </p:cNvSpPr>
          <p:nvPr/>
        </p:nvSpPr>
        <p:spPr bwMode="auto">
          <a:xfrm flipH="1">
            <a:off x="1143000" y="2590800"/>
            <a:ext cx="14478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97991" name="Text Box 7"/>
          <p:cNvSpPr txBox="1">
            <a:spLocks noChangeArrowheads="1"/>
          </p:cNvSpPr>
          <p:nvPr/>
        </p:nvSpPr>
        <p:spPr bwMode="auto">
          <a:xfrm>
            <a:off x="746125" y="5675313"/>
            <a:ext cx="16065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character cell</a:t>
            </a:r>
          </a:p>
          <a:p>
            <a:r>
              <a:rPr lang="en-US"/>
              <a:t>(content area)</a:t>
            </a:r>
          </a:p>
        </p:txBody>
      </p:sp>
      <p:sp>
        <p:nvSpPr>
          <p:cNvPr id="297992" name="Line 8"/>
          <p:cNvSpPr>
            <a:spLocks noChangeShapeType="1"/>
          </p:cNvSpPr>
          <p:nvPr/>
        </p:nvSpPr>
        <p:spPr bwMode="auto">
          <a:xfrm flipH="1" flipV="1">
            <a:off x="1143000" y="5334000"/>
            <a:ext cx="76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Jackson, Web Technologies: A Computer Science Perspective, © 2007 Prentice-Hall, Inc. All rights reserved. 0-13-185603-0 </a:t>
            </a:r>
          </a:p>
        </p:txBody>
      </p:sp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CSS Font Properties</a:t>
            </a:r>
          </a:p>
        </p:txBody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</a:t>
            </a:r>
            <a:r>
              <a:rPr lang="en-US">
                <a:solidFill>
                  <a:schemeClr val="hlink"/>
                </a:solidFill>
              </a:rPr>
              <a:t>font family</a:t>
            </a:r>
            <a:r>
              <a:rPr lang="en-US"/>
              <a:t> is a collection of related fonts (typically differ in size, weight, etc.)</a:t>
            </a:r>
          </a:p>
          <a:p>
            <a:endParaRPr lang="en-US"/>
          </a:p>
          <a:p>
            <a:r>
              <a:rPr lang="en-US"/>
              <a:t>font-family property can accept a list of families, including </a:t>
            </a:r>
            <a:r>
              <a:rPr lang="en-US">
                <a:solidFill>
                  <a:schemeClr val="hlink"/>
                </a:solidFill>
              </a:rPr>
              <a:t>generic</a:t>
            </a:r>
            <a:r>
              <a:rPr lang="en-US"/>
              <a:t> font families</a:t>
            </a:r>
          </a:p>
        </p:txBody>
      </p:sp>
      <p:pic>
        <p:nvPicPr>
          <p:cNvPr id="30208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2819400"/>
            <a:ext cx="5002213" cy="306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208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4648200"/>
            <a:ext cx="7650163" cy="407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2086" name="Oval 6"/>
          <p:cNvSpPr>
            <a:spLocks noChangeArrowheads="1"/>
          </p:cNvSpPr>
          <p:nvPr/>
        </p:nvSpPr>
        <p:spPr bwMode="auto">
          <a:xfrm>
            <a:off x="2133600" y="4648200"/>
            <a:ext cx="2743200" cy="3810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02087" name="Text Box 7"/>
          <p:cNvSpPr txBox="1">
            <a:spLocks noChangeArrowheads="1"/>
          </p:cNvSpPr>
          <p:nvPr/>
        </p:nvSpPr>
        <p:spPr bwMode="auto">
          <a:xfrm>
            <a:off x="2438400" y="5105400"/>
            <a:ext cx="1720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80"/>
                </a:solidFill>
              </a:rPr>
              <a:t>first choice font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Jackson, Web Technologies: A Computer Science Perspective, © 2007 Prentice-Hall, Inc. All rights reserved. 0-13-185603-0 </a:t>
            </a:r>
          </a:p>
        </p:txBody>
      </p:sp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CSS Font Properties</a:t>
            </a:r>
          </a:p>
        </p:txBody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Many properties, such as </a:t>
            </a:r>
            <a:r>
              <a:rPr lang="en-US">
                <a:latin typeface="Lucida Sans Typewriter" pitchFamily="49" charset="0"/>
              </a:rPr>
              <a:t>font-size</a:t>
            </a:r>
            <a:r>
              <a:rPr lang="en-US"/>
              <a:t>, have a value that is a </a:t>
            </a:r>
            <a:r>
              <a:rPr lang="en-US">
                <a:solidFill>
                  <a:schemeClr val="hlink"/>
                </a:solidFill>
              </a:rPr>
              <a:t>CSS length</a:t>
            </a:r>
          </a:p>
          <a:p>
            <a:r>
              <a:rPr lang="en-US"/>
              <a:t>All CSS length values except 0 need units</a:t>
            </a:r>
          </a:p>
        </p:txBody>
      </p:sp>
      <p:pic>
        <p:nvPicPr>
          <p:cNvPr id="30720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3270250"/>
            <a:ext cx="6781800" cy="327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Jackson, Web Technologies: A Computer Science Perspective, © 2007 Prentice-Hall, Inc. All rights reserved. 0-13-185603-0 </a:t>
            </a:r>
          </a:p>
        </p:txBody>
      </p:sp>
      <p:sp>
        <p:nvSpPr>
          <p:cNvPr id="312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CSS Font Properties</a:t>
            </a:r>
          </a:p>
        </p:txBody>
      </p:sp>
      <p:pic>
        <p:nvPicPr>
          <p:cNvPr id="31232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027238"/>
            <a:ext cx="8229600" cy="346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Jackson, Web Technologies: A Computer Science Perspective, © 2007 Prentice-Hall, Inc. All rights reserved. 0-13-185603-0 </a:t>
            </a:r>
          </a:p>
        </p:txBody>
      </p:sp>
      <p:sp>
        <p:nvSpPr>
          <p:cNvPr id="314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CSS Font Properties</a:t>
            </a:r>
          </a:p>
        </p:txBody>
      </p:sp>
      <p:sp>
        <p:nvSpPr>
          <p:cNvPr id="314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Text is rendered using line boxes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Height of line box given by </a:t>
            </a:r>
            <a:r>
              <a:rPr lang="en-US">
                <a:solidFill>
                  <a:schemeClr val="accent2"/>
                </a:solidFill>
                <a:latin typeface="Lucida Sans Typewriter" pitchFamily="49" charset="0"/>
              </a:rPr>
              <a:t>line-height</a:t>
            </a:r>
          </a:p>
          <a:p>
            <a:pPr lvl="1">
              <a:lnSpc>
                <a:spcPct val="90000"/>
              </a:lnSpc>
            </a:pPr>
            <a:r>
              <a:rPr lang="en-US"/>
              <a:t>Initial value: </a:t>
            </a:r>
            <a:r>
              <a:rPr lang="en-US">
                <a:latin typeface="Lucida Sans Typewriter" pitchFamily="49" charset="0"/>
              </a:rPr>
              <a:t>normal</a:t>
            </a:r>
            <a:r>
              <a:rPr lang="en-US"/>
              <a:t> (</a:t>
            </a:r>
            <a:r>
              <a:rPr lang="en-US" i="1"/>
              <a:t>i.e.</a:t>
            </a:r>
            <a:r>
              <a:rPr lang="en-US"/>
              <a:t>, cell height; relationship with em height is font-specific)</a:t>
            </a:r>
          </a:p>
          <a:p>
            <a:pPr lvl="1">
              <a:lnSpc>
                <a:spcPct val="90000"/>
              </a:lnSpc>
            </a:pPr>
            <a:r>
              <a:rPr lang="en-US"/>
              <a:t>Other values (following are equivalent):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endParaRPr lang="en-US"/>
          </a:p>
        </p:txBody>
      </p:sp>
      <p:pic>
        <p:nvPicPr>
          <p:cNvPr id="314372" name="Picture 4" descr="LineBoxAndCell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2286000"/>
            <a:ext cx="3448050" cy="803275"/>
          </a:xfrm>
          <a:prstGeom prst="rect">
            <a:avLst/>
          </a:prstGeom>
          <a:noFill/>
        </p:spPr>
      </p:pic>
      <p:pic>
        <p:nvPicPr>
          <p:cNvPr id="31437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7400" y="5029200"/>
            <a:ext cx="3276600" cy="1274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Jackson, Web Technologies: A Computer Science Perspective, © 2007 Prentice-Hall, Inc. All rights reserved. 0-13-185603-0 </a:t>
            </a:r>
          </a:p>
        </p:txBody>
      </p:sp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CSS Font Properties</a:t>
            </a:r>
          </a:p>
        </p:txBody>
      </p:sp>
      <p:sp>
        <p:nvSpPr>
          <p:cNvPr id="31539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When </a:t>
            </a:r>
            <a:r>
              <a:rPr lang="en-US">
                <a:latin typeface="Lucida Sans Typewriter" pitchFamily="49" charset="0"/>
              </a:rPr>
              <a:t>line-height</a:t>
            </a:r>
            <a:r>
              <a:rPr lang="en-US"/>
              <a:t> is greater than cell height: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Inheritance of </a:t>
            </a:r>
            <a:r>
              <a:rPr lang="en-US">
                <a:latin typeface="Lucida Sans Typewriter" pitchFamily="49" charset="0"/>
              </a:rPr>
              <a:t>line-height</a:t>
            </a:r>
            <a:r>
              <a:rPr lang="en-US"/>
              <a:t>:</a:t>
            </a:r>
          </a:p>
          <a:p>
            <a:pPr lvl="1"/>
            <a:r>
              <a:rPr lang="en-US"/>
              <a:t>Specified value if </a:t>
            </a:r>
            <a:r>
              <a:rPr lang="en-US">
                <a:latin typeface="Lucida Sans Typewriter" pitchFamily="49" charset="0"/>
              </a:rPr>
              <a:t>normal</a:t>
            </a:r>
            <a:r>
              <a:rPr lang="en-US"/>
              <a:t> or unit-less number</a:t>
            </a:r>
          </a:p>
          <a:p>
            <a:pPr lvl="1"/>
            <a:r>
              <a:rPr lang="en-US"/>
              <a:t>Computed value otherwise</a:t>
            </a:r>
          </a:p>
        </p:txBody>
      </p:sp>
      <p:pic>
        <p:nvPicPr>
          <p:cNvPr id="315396" name="Picture 4" descr="HalfLeadi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2209800"/>
            <a:ext cx="5181600" cy="2165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Jackson, Web Technologies: A Computer Science Perspective, © 2007 Prentice-Hall, Inc. All rights reserved. 0-13-185603-0 </a:t>
            </a:r>
          </a:p>
        </p:txBody>
      </p:sp>
      <p:sp>
        <p:nvSpPr>
          <p:cNvPr id="318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CSS Font Properties</a:t>
            </a:r>
          </a:p>
        </p:txBody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Lucida Sans Typewriter" pitchFamily="49" charset="0"/>
              </a:rPr>
              <a:t>font</a:t>
            </a:r>
            <a:r>
              <a:rPr lang="en-US"/>
              <a:t> </a:t>
            </a:r>
            <a:r>
              <a:rPr lang="en-US">
                <a:solidFill>
                  <a:schemeClr val="hlink"/>
                </a:solidFill>
              </a:rPr>
              <a:t>shortcut property</a:t>
            </a:r>
            <a:r>
              <a:rPr lang="en-US"/>
              <a:t>:</a:t>
            </a:r>
          </a:p>
        </p:txBody>
      </p:sp>
      <p:pic>
        <p:nvPicPr>
          <p:cNvPr id="31846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2438400"/>
            <a:ext cx="5603875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846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3276600"/>
            <a:ext cx="4724400" cy="17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8470" name="AutoShape 6"/>
          <p:cNvSpPr>
            <a:spLocks noChangeArrowheads="1"/>
          </p:cNvSpPr>
          <p:nvPr/>
        </p:nvSpPr>
        <p:spPr bwMode="auto">
          <a:xfrm>
            <a:off x="2209800" y="2895600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Jackson, Web Technologies: A Computer Science Perspective, © 2007 Prentice-Hall, Inc. All rights reserved. 0-13-185603-0 </a:t>
            </a:r>
          </a:p>
        </p:txBody>
      </p:sp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CSS Font Properties</a:t>
            </a:r>
          </a:p>
        </p:txBody>
      </p:sp>
      <p:sp>
        <p:nvSpPr>
          <p:cNvPr id="319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Lucida Sans Typewriter" pitchFamily="49" charset="0"/>
              </a:rPr>
              <a:t>font</a:t>
            </a:r>
            <a:r>
              <a:rPr lang="en-US"/>
              <a:t> </a:t>
            </a:r>
            <a:r>
              <a:rPr lang="en-US">
                <a:solidFill>
                  <a:schemeClr val="hlink"/>
                </a:solidFill>
              </a:rPr>
              <a:t>shortcut property</a:t>
            </a:r>
            <a:r>
              <a:rPr lang="en-US"/>
              <a:t>:</a:t>
            </a:r>
          </a:p>
        </p:txBody>
      </p:sp>
      <p:pic>
        <p:nvPicPr>
          <p:cNvPr id="31949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2438400"/>
            <a:ext cx="5603875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949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3276600"/>
            <a:ext cx="4724400" cy="17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9494" name="AutoShape 6"/>
          <p:cNvSpPr>
            <a:spLocks noChangeArrowheads="1"/>
          </p:cNvSpPr>
          <p:nvPr/>
        </p:nvSpPr>
        <p:spPr bwMode="auto">
          <a:xfrm>
            <a:off x="2209800" y="2895600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IN"/>
          </a:p>
        </p:txBody>
      </p:sp>
      <p:sp>
        <p:nvSpPr>
          <p:cNvPr id="319495" name="Oval 7"/>
          <p:cNvSpPr>
            <a:spLocks noChangeArrowheads="1"/>
          </p:cNvSpPr>
          <p:nvPr/>
        </p:nvSpPr>
        <p:spPr bwMode="auto">
          <a:xfrm>
            <a:off x="1752600" y="2514600"/>
            <a:ext cx="762000" cy="3048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19496" name="Oval 8"/>
          <p:cNvSpPr>
            <a:spLocks noChangeArrowheads="1"/>
          </p:cNvSpPr>
          <p:nvPr/>
        </p:nvSpPr>
        <p:spPr bwMode="auto">
          <a:xfrm>
            <a:off x="2514600" y="3276600"/>
            <a:ext cx="838200" cy="3048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Jackson, Web Technologies: A Computer Science Perspective, © 2007 Prentice-Hall, Inc. All rights reserved. 0-13-185603-0 </a:t>
            </a:r>
          </a:p>
        </p:txBody>
      </p:sp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CSS Font Properties</a:t>
            </a:r>
          </a:p>
        </p:txBody>
      </p:sp>
      <p:sp>
        <p:nvSpPr>
          <p:cNvPr id="320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Lucida Sans Typewriter" pitchFamily="49" charset="0"/>
              </a:rPr>
              <a:t>font</a:t>
            </a:r>
            <a:r>
              <a:rPr lang="en-US"/>
              <a:t> </a:t>
            </a:r>
            <a:r>
              <a:rPr lang="en-US">
                <a:solidFill>
                  <a:schemeClr val="hlink"/>
                </a:solidFill>
              </a:rPr>
              <a:t>shortcut property</a:t>
            </a:r>
            <a:r>
              <a:rPr lang="en-US"/>
              <a:t>:</a:t>
            </a:r>
          </a:p>
        </p:txBody>
      </p:sp>
      <p:pic>
        <p:nvPicPr>
          <p:cNvPr id="32051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2438400"/>
            <a:ext cx="5603875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051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3276600"/>
            <a:ext cx="4724400" cy="17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0518" name="AutoShape 6"/>
          <p:cNvSpPr>
            <a:spLocks noChangeArrowheads="1"/>
          </p:cNvSpPr>
          <p:nvPr/>
        </p:nvSpPr>
        <p:spPr bwMode="auto">
          <a:xfrm>
            <a:off x="2209800" y="2895600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IN"/>
          </a:p>
        </p:txBody>
      </p:sp>
      <p:sp>
        <p:nvSpPr>
          <p:cNvPr id="320519" name="Oval 7"/>
          <p:cNvSpPr>
            <a:spLocks noChangeArrowheads="1"/>
          </p:cNvSpPr>
          <p:nvPr/>
        </p:nvSpPr>
        <p:spPr bwMode="auto">
          <a:xfrm>
            <a:off x="2514600" y="2514600"/>
            <a:ext cx="609600" cy="2286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20520" name="Oval 8"/>
          <p:cNvSpPr>
            <a:spLocks noChangeArrowheads="1"/>
          </p:cNvSpPr>
          <p:nvPr/>
        </p:nvSpPr>
        <p:spPr bwMode="auto">
          <a:xfrm>
            <a:off x="2590800" y="3886200"/>
            <a:ext cx="609600" cy="2286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Jackson, Web Technologies: A Computer Science Perspective, © 2007 Prentice-Hall, Inc. All rights reserved. 0-13-185603-0 </a:t>
            </a:r>
          </a:p>
        </p:txBody>
      </p:sp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CSS Font Properties</a:t>
            </a:r>
          </a:p>
        </p:txBody>
      </p:sp>
      <p:sp>
        <p:nvSpPr>
          <p:cNvPr id="321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Lucida Sans Typewriter" pitchFamily="49" charset="0"/>
              </a:rPr>
              <a:t>font</a:t>
            </a:r>
            <a:r>
              <a:rPr lang="en-US"/>
              <a:t> </a:t>
            </a:r>
            <a:r>
              <a:rPr lang="en-US">
                <a:solidFill>
                  <a:schemeClr val="hlink"/>
                </a:solidFill>
              </a:rPr>
              <a:t>shortcut property</a:t>
            </a:r>
            <a:r>
              <a:rPr lang="en-US"/>
              <a:t>:</a:t>
            </a:r>
          </a:p>
        </p:txBody>
      </p:sp>
      <p:pic>
        <p:nvPicPr>
          <p:cNvPr id="32154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2438400"/>
            <a:ext cx="5603875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154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3276600"/>
            <a:ext cx="4724400" cy="17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1542" name="AutoShape 6"/>
          <p:cNvSpPr>
            <a:spLocks noChangeArrowheads="1"/>
          </p:cNvSpPr>
          <p:nvPr/>
        </p:nvSpPr>
        <p:spPr bwMode="auto">
          <a:xfrm>
            <a:off x="2209800" y="2895600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IN"/>
          </a:p>
        </p:txBody>
      </p:sp>
      <p:sp>
        <p:nvSpPr>
          <p:cNvPr id="321543" name="Oval 7"/>
          <p:cNvSpPr>
            <a:spLocks noChangeArrowheads="1"/>
          </p:cNvSpPr>
          <p:nvPr/>
        </p:nvSpPr>
        <p:spPr bwMode="auto">
          <a:xfrm>
            <a:off x="3124200" y="2514600"/>
            <a:ext cx="533400" cy="3048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21544" name="Oval 8"/>
          <p:cNvSpPr>
            <a:spLocks noChangeArrowheads="1"/>
          </p:cNvSpPr>
          <p:nvPr/>
        </p:nvSpPr>
        <p:spPr bwMode="auto">
          <a:xfrm>
            <a:off x="2438400" y="4114800"/>
            <a:ext cx="533400" cy="3048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Jackson, Web Technologies: A Computer Science Perspective, © 2007 Prentice-Hall, Inc. All rights reserved. 0-13-185603-0 </a:t>
            </a:r>
          </a:p>
        </p:txBody>
      </p:sp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CSS Font Properties</a:t>
            </a:r>
          </a:p>
        </p:txBody>
      </p:sp>
      <p:sp>
        <p:nvSpPr>
          <p:cNvPr id="32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Lucida Sans Typewriter" pitchFamily="49" charset="0"/>
              </a:rPr>
              <a:t>font</a:t>
            </a:r>
            <a:r>
              <a:rPr lang="en-US"/>
              <a:t> </a:t>
            </a:r>
            <a:r>
              <a:rPr lang="en-US">
                <a:solidFill>
                  <a:schemeClr val="hlink"/>
                </a:solidFill>
              </a:rPr>
              <a:t>shortcut property</a:t>
            </a:r>
            <a:r>
              <a:rPr lang="en-US"/>
              <a:t>:</a:t>
            </a:r>
          </a:p>
        </p:txBody>
      </p:sp>
      <p:pic>
        <p:nvPicPr>
          <p:cNvPr id="3225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2438400"/>
            <a:ext cx="5603875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256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3276600"/>
            <a:ext cx="4724400" cy="17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2566" name="AutoShape 6"/>
          <p:cNvSpPr>
            <a:spLocks noChangeArrowheads="1"/>
          </p:cNvSpPr>
          <p:nvPr/>
        </p:nvSpPr>
        <p:spPr bwMode="auto">
          <a:xfrm>
            <a:off x="2209800" y="2895600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IN"/>
          </a:p>
        </p:txBody>
      </p:sp>
      <p:sp>
        <p:nvSpPr>
          <p:cNvPr id="322567" name="Oval 7"/>
          <p:cNvSpPr>
            <a:spLocks noChangeArrowheads="1"/>
          </p:cNvSpPr>
          <p:nvPr/>
        </p:nvSpPr>
        <p:spPr bwMode="auto">
          <a:xfrm>
            <a:off x="3657600" y="2438400"/>
            <a:ext cx="2590800" cy="4572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22568" name="Oval 8"/>
          <p:cNvSpPr>
            <a:spLocks noChangeArrowheads="1"/>
          </p:cNvSpPr>
          <p:nvPr/>
        </p:nvSpPr>
        <p:spPr bwMode="auto">
          <a:xfrm>
            <a:off x="2590800" y="4648200"/>
            <a:ext cx="2743200" cy="3810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Jackson, Web Technologies: A Computer Science Perspective, © 2007 Prentice-Hall, Inc. All rights reserved. 0-13-185603-0 </a:t>
            </a:r>
          </a:p>
        </p:txBody>
      </p:sp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CSS Font Properties</a:t>
            </a:r>
          </a:p>
        </p:txBody>
      </p:sp>
      <p:sp>
        <p:nvSpPr>
          <p:cNvPr id="323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Lucida Sans Typewriter" pitchFamily="49" charset="0"/>
              </a:rPr>
              <a:t>font</a:t>
            </a:r>
            <a:r>
              <a:rPr lang="en-US"/>
              <a:t> </a:t>
            </a:r>
            <a:r>
              <a:rPr lang="en-US">
                <a:solidFill>
                  <a:schemeClr val="hlink"/>
                </a:solidFill>
              </a:rPr>
              <a:t>shortcut property</a:t>
            </a:r>
            <a:r>
              <a:rPr lang="en-US"/>
              <a:t>:</a:t>
            </a:r>
          </a:p>
        </p:txBody>
      </p:sp>
      <p:pic>
        <p:nvPicPr>
          <p:cNvPr id="32358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2438400"/>
            <a:ext cx="5603875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358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3276600"/>
            <a:ext cx="4724400" cy="17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3590" name="AutoShape 6"/>
          <p:cNvSpPr>
            <a:spLocks noChangeArrowheads="1"/>
          </p:cNvSpPr>
          <p:nvPr/>
        </p:nvSpPr>
        <p:spPr bwMode="auto">
          <a:xfrm>
            <a:off x="2209800" y="2895600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IN"/>
          </a:p>
        </p:txBody>
      </p:sp>
      <p:sp>
        <p:nvSpPr>
          <p:cNvPr id="323591" name="Oval 7"/>
          <p:cNvSpPr>
            <a:spLocks noChangeArrowheads="1"/>
          </p:cNvSpPr>
          <p:nvPr/>
        </p:nvSpPr>
        <p:spPr bwMode="auto">
          <a:xfrm>
            <a:off x="2743200" y="3581400"/>
            <a:ext cx="762000" cy="3048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23592" name="Oval 8"/>
          <p:cNvSpPr>
            <a:spLocks noChangeArrowheads="1"/>
          </p:cNvSpPr>
          <p:nvPr/>
        </p:nvSpPr>
        <p:spPr bwMode="auto">
          <a:xfrm>
            <a:off x="2590800" y="4419600"/>
            <a:ext cx="914400" cy="3048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23593" name="Text Box 9"/>
          <p:cNvSpPr txBox="1">
            <a:spLocks noChangeArrowheads="1"/>
          </p:cNvSpPr>
          <p:nvPr/>
        </p:nvSpPr>
        <p:spPr bwMode="auto">
          <a:xfrm>
            <a:off x="3352800" y="3810000"/>
            <a:ext cx="4927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80"/>
                </a:solidFill>
              </a:rPr>
              <a:t>Initial values used if no value specified in </a:t>
            </a:r>
            <a:r>
              <a:rPr lang="en-US">
                <a:solidFill>
                  <a:srgbClr val="008080"/>
                </a:solidFill>
                <a:latin typeface="Lucida Sans Typewriter" pitchFamily="49" charset="0"/>
              </a:rPr>
              <a:t>font</a:t>
            </a:r>
          </a:p>
          <a:p>
            <a:r>
              <a:rPr lang="en-US">
                <a:solidFill>
                  <a:srgbClr val="008080"/>
                </a:solidFill>
              </a:rPr>
              <a:t>property list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Jackson, Web Technologies: A Computer Science Perspective, © 2007 Prentice-Hall, Inc. All rights reserved. 0-13-185603-0 </a:t>
            </a:r>
          </a:p>
        </p:txBody>
      </p:sp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CSS Text Formatting</a:t>
            </a:r>
          </a:p>
        </p:txBody>
      </p:sp>
      <p:pic>
        <p:nvPicPr>
          <p:cNvPr id="32563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295400"/>
            <a:ext cx="6969125" cy="5176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Jackson, Web Technologies: A Computer Science Perspective, © 2007 Prentice-Hall, Inc. All rights reserved. 0-13-185603-0 </a:t>
            </a:r>
          </a:p>
        </p:txBody>
      </p:sp>
      <p:sp>
        <p:nvSpPr>
          <p:cNvPr id="3287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CSS Text Color</a:t>
            </a:r>
          </a:p>
        </p:txBody>
      </p:sp>
      <p:pic>
        <p:nvPicPr>
          <p:cNvPr id="32870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685925"/>
            <a:ext cx="6324600" cy="4621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8710" name="Oval 6"/>
          <p:cNvSpPr>
            <a:spLocks noChangeArrowheads="1"/>
          </p:cNvSpPr>
          <p:nvPr/>
        </p:nvSpPr>
        <p:spPr bwMode="auto">
          <a:xfrm>
            <a:off x="6553200" y="4800600"/>
            <a:ext cx="990600" cy="12954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Jackson, Web Technologies: A Computer Science Perspective, © 2007 Prentice-Hall, Inc. All rights reserved. 0-13-185603-0 </a:t>
            </a:r>
          </a:p>
        </p:txBody>
      </p:sp>
      <p:sp>
        <p:nvSpPr>
          <p:cNvPr id="330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CSS Text Color</a:t>
            </a:r>
          </a:p>
        </p:txBody>
      </p:sp>
      <p:pic>
        <p:nvPicPr>
          <p:cNvPr id="33075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371600"/>
            <a:ext cx="7064375" cy="512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532</Words>
  <Application>Microsoft Office PowerPoint</Application>
  <PresentationFormat>On-screen Show (4:3)</PresentationFormat>
  <Paragraphs>62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Cascading Style Sheets</vt:lpstr>
      <vt:lpstr>CSS Font Properties</vt:lpstr>
      <vt:lpstr>CSS Font Properties</vt:lpstr>
      <vt:lpstr>CSS Font Properties</vt:lpstr>
      <vt:lpstr>CSS Font Properties</vt:lpstr>
      <vt:lpstr>CSS Font Properties</vt:lpstr>
      <vt:lpstr>CSS Font Properties</vt:lpstr>
      <vt:lpstr>CSS Font Properties</vt:lpstr>
      <vt:lpstr>CSS Font Properties</vt:lpstr>
      <vt:lpstr>CSS Font Properties</vt:lpstr>
      <vt:lpstr>CSS Font Properties</vt:lpstr>
      <vt:lpstr>CSS Font Properties</vt:lpstr>
      <vt:lpstr>CSS Font Properties</vt:lpstr>
      <vt:lpstr>CSS Text Formatting</vt:lpstr>
      <vt:lpstr>CSS Text Color</vt:lpstr>
      <vt:lpstr>CSS Text Color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staff</dc:creator>
  <cp:lastModifiedBy>staff</cp:lastModifiedBy>
  <cp:revision>2</cp:revision>
  <dcterms:created xsi:type="dcterms:W3CDTF">2016-07-11T10:38:14Z</dcterms:created>
  <dcterms:modified xsi:type="dcterms:W3CDTF">2016-07-11T10:44:07Z</dcterms:modified>
</cp:coreProperties>
</file>